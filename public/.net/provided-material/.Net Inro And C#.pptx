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4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436" y="-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bibharathi Thangaraj" userId="f5d5922b-f64e-4710-a7c7-00c5dd1ddf41" providerId="ADAL" clId="{45202CEE-F6A7-419A-A8A1-04ED7FB049EF}"/>
    <pc:docChg chg="undo custSel modSld">
      <pc:chgData name="Sibibharathi Thangaraj" userId="f5d5922b-f64e-4710-a7c7-00c5dd1ddf41" providerId="ADAL" clId="{45202CEE-F6A7-419A-A8A1-04ED7FB049EF}" dt="2026-07-24T09:35:30.903" v="19" actId="14100"/>
      <pc:docMkLst>
        <pc:docMk/>
      </pc:docMkLst>
      <pc:sldChg chg="modSp mod">
        <pc:chgData name="Sibibharathi Thangaraj" userId="f5d5922b-f64e-4710-a7c7-00c5dd1ddf41" providerId="ADAL" clId="{45202CEE-F6A7-419A-A8A1-04ED7FB049EF}" dt="2026-07-24T09:27:59.523" v="1" actId="1076"/>
        <pc:sldMkLst>
          <pc:docMk/>
          <pc:sldMk cId="0" sldId="257"/>
        </pc:sldMkLst>
        <pc:spChg chg="mod">
          <ac:chgData name="Sibibharathi Thangaraj" userId="f5d5922b-f64e-4710-a7c7-00c5dd1ddf41" providerId="ADAL" clId="{45202CEE-F6A7-419A-A8A1-04ED7FB049EF}" dt="2026-07-24T09:27:59.523" v="1" actId="1076"/>
          <ac:spMkLst>
            <pc:docMk/>
            <pc:sldMk cId="0" sldId="257"/>
            <ac:spMk id="4" creationId="{00000000-0000-0000-0000-000000000000}"/>
          </ac:spMkLst>
        </pc:spChg>
      </pc:sldChg>
      <pc:sldChg chg="modSp mod">
        <pc:chgData name="Sibibharathi Thangaraj" userId="f5d5922b-f64e-4710-a7c7-00c5dd1ddf41" providerId="ADAL" clId="{45202CEE-F6A7-419A-A8A1-04ED7FB049EF}" dt="2026-07-24T09:32:42.946" v="18" actId="1076"/>
        <pc:sldMkLst>
          <pc:docMk/>
          <pc:sldMk cId="0" sldId="266"/>
        </pc:sldMkLst>
        <pc:spChg chg="mod">
          <ac:chgData name="Sibibharathi Thangaraj" userId="f5d5922b-f64e-4710-a7c7-00c5dd1ddf41" providerId="ADAL" clId="{45202CEE-F6A7-419A-A8A1-04ED7FB049EF}" dt="2026-07-24T09:31:38.222" v="4" actId="14100"/>
          <ac:spMkLst>
            <pc:docMk/>
            <pc:sldMk cId="0" sldId="266"/>
            <ac:spMk id="2" creationId="{00000000-0000-0000-0000-000000000000}"/>
          </ac:spMkLst>
        </pc:spChg>
        <pc:spChg chg="mod">
          <ac:chgData name="Sibibharathi Thangaraj" userId="f5d5922b-f64e-4710-a7c7-00c5dd1ddf41" providerId="ADAL" clId="{45202CEE-F6A7-419A-A8A1-04ED7FB049EF}" dt="2026-07-24T09:31:32.229" v="3" actId="14100"/>
          <ac:spMkLst>
            <pc:docMk/>
            <pc:sldMk cId="0" sldId="266"/>
            <ac:spMk id="3" creationId="{00000000-0000-0000-0000-000000000000}"/>
          </ac:spMkLst>
        </pc:spChg>
        <pc:spChg chg="mod">
          <ac:chgData name="Sibibharathi Thangaraj" userId="f5d5922b-f64e-4710-a7c7-00c5dd1ddf41" providerId="ADAL" clId="{45202CEE-F6A7-419A-A8A1-04ED7FB049EF}" dt="2026-07-24T09:32:33.746" v="16" actId="20577"/>
          <ac:spMkLst>
            <pc:docMk/>
            <pc:sldMk cId="0" sldId="266"/>
            <ac:spMk id="4" creationId="{00000000-0000-0000-0000-000000000000}"/>
          </ac:spMkLst>
        </pc:spChg>
        <pc:spChg chg="mod">
          <ac:chgData name="Sibibharathi Thangaraj" userId="f5d5922b-f64e-4710-a7c7-00c5dd1ddf41" providerId="ADAL" clId="{45202CEE-F6A7-419A-A8A1-04ED7FB049EF}" dt="2026-07-24T09:32:42.946" v="18" actId="1076"/>
          <ac:spMkLst>
            <pc:docMk/>
            <pc:sldMk cId="0" sldId="266"/>
            <ac:spMk id="5" creationId="{00000000-0000-0000-0000-000000000000}"/>
          </ac:spMkLst>
        </pc:spChg>
        <pc:spChg chg="mod">
          <ac:chgData name="Sibibharathi Thangaraj" userId="f5d5922b-f64e-4710-a7c7-00c5dd1ddf41" providerId="ADAL" clId="{45202CEE-F6A7-419A-A8A1-04ED7FB049EF}" dt="2026-07-24T09:32:15.160" v="9" actId="14100"/>
          <ac:spMkLst>
            <pc:docMk/>
            <pc:sldMk cId="0" sldId="266"/>
            <ac:spMk id="6" creationId="{00000000-0000-0000-0000-000000000000}"/>
          </ac:spMkLst>
        </pc:spChg>
      </pc:sldChg>
      <pc:sldChg chg="modSp mod">
        <pc:chgData name="Sibibharathi Thangaraj" userId="f5d5922b-f64e-4710-a7c7-00c5dd1ddf41" providerId="ADAL" clId="{45202CEE-F6A7-419A-A8A1-04ED7FB049EF}" dt="2026-07-24T09:35:30.903" v="19" actId="14100"/>
        <pc:sldMkLst>
          <pc:docMk/>
          <pc:sldMk cId="0" sldId="294"/>
        </pc:sldMkLst>
        <pc:spChg chg="mod">
          <ac:chgData name="Sibibharathi Thangaraj" userId="f5d5922b-f64e-4710-a7c7-00c5dd1ddf41" providerId="ADAL" clId="{45202CEE-F6A7-419A-A8A1-04ED7FB049EF}" dt="2026-07-24T09:35:30.903" v="19" actId="14100"/>
          <ac:spMkLst>
            <pc:docMk/>
            <pc:sldMk cId="0" sldId="294"/>
            <ac:spMk id="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59368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2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4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4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4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4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43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8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5" Type="http://schemas.openxmlformats.org/officeDocument/2006/relationships/image" Target="../media/image47.png"/><Relationship Id="rId4" Type="http://schemas.openxmlformats.org/officeDocument/2006/relationships/image" Target="../media/image3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4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4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4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4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4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4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solidFill>
            <a:srgbClr val="141B4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463040" y="4572000"/>
            <a:ext cx="3291840" cy="3291840"/>
          </a:xfrm>
          <a:prstGeom prst="ellipse">
            <a:avLst/>
          </a:prstGeom>
          <a:solidFill>
            <a:srgbClr val="141B4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22960" y="1051560"/>
            <a:ext cx="822960" cy="822960"/>
          </a:xfrm>
          <a:prstGeom prst="ellipse">
            <a:avLst/>
          </a:prstGeom>
          <a:solidFill>
            <a:srgbClr val="4F6B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930" y="1265530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057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TRAINEE ORIENTATION SERIES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242316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.NET?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822960" y="3520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beginner's guide to Microsoft's free, open-source, cross-platform development platform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Santosh   |   .NET Trainee Program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Exactly Is .NET?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ecosystem for building software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120640" cy="4480560"/>
          </a:xfrm>
          <a:prstGeom prst="roundRect">
            <a:avLst>
              <a:gd name="adj" fmla="val 2449"/>
            </a:avLst>
          </a:prstGeom>
          <a:solidFill>
            <a:srgbClr val="1E2761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43891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.NET is a free, open-source, cross-platform developer platform created by Microsoft for building many kinds of applications.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374904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 •  Mobile  •  Desktop  •  Cloud  •  IoT  •  Gaming  •  AI/ML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914400" y="4343400"/>
            <a:ext cx="4389120" cy="0"/>
          </a:xfrm>
          <a:prstGeom prst="line">
            <a:avLst/>
          </a:prstGeom>
          <a:noFill/>
          <a:ln w="12700">
            <a:solidFill>
              <a:srgbClr val="3A45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4526280"/>
            <a:ext cx="43891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 a toolbox: languages to write code, libraries of reusable functionality, a runtime to execute it, and tools to build &amp; debug.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35040" y="1764792"/>
            <a:ext cx="566928" cy="566928"/>
          </a:xfrm>
          <a:prstGeom prst="ellipse">
            <a:avLst/>
          </a:prstGeom>
          <a:solidFill>
            <a:srgbClr val="EEF1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2441" y="1912193"/>
            <a:ext cx="272125" cy="27212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812280" y="15087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812280" y="187452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C#, F#, VB.NET — write code in the language you prefer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035040" y="2843784"/>
            <a:ext cx="566928" cy="566928"/>
          </a:xfrm>
          <a:prstGeom prst="ellipse">
            <a:avLst/>
          </a:prstGeom>
          <a:solidFill>
            <a:srgbClr val="EEF1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2441" y="2991185"/>
            <a:ext cx="272125" cy="27212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812280" y="258775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6812280" y="2953512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pre-built, reusable classes and methods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035040" y="3922776"/>
            <a:ext cx="566928" cy="566928"/>
          </a:xfrm>
          <a:prstGeom prst="ellipse">
            <a:avLst/>
          </a:prstGeom>
          <a:solidFill>
            <a:srgbClr val="EEF1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2441" y="4070177"/>
            <a:ext cx="272125" cy="27212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812280" y="3666744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6812280" y="4032504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CLR executes your code, manages memory &amp; security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6035040" y="5001768"/>
            <a:ext cx="566928" cy="566928"/>
          </a:xfrm>
          <a:prstGeom prst="ellipse">
            <a:avLst/>
          </a:prstGeom>
          <a:solidFill>
            <a:srgbClr val="EEF1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2441" y="5149169"/>
            <a:ext cx="272125" cy="27212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812280" y="4745736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6812280" y="5111496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Studio, VS Code, CLI — build, debug, deploy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Core Components of .NET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building blocks work together under the hood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20440" cy="44348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685800" cy="685800"/>
          </a:xfrm>
          <a:prstGeom prst="ellipse">
            <a:avLst/>
          </a:prstGeom>
          <a:solidFill>
            <a:srgbClr val="EEF1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8" y="205282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74320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Languages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246120"/>
            <a:ext cx="29718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(most popular), F# (functional-first), and VB.NET. All compile to a shared intermediate format — a C# and F# developer can work in the same project.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89120" y="1554480"/>
            <a:ext cx="3520440" cy="44348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4663440" y="1874520"/>
            <a:ext cx="685800" cy="685800"/>
          </a:xfrm>
          <a:prstGeom prst="ellipse">
            <a:avLst/>
          </a:prstGeom>
          <a:solidFill>
            <a:srgbClr val="EEF1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1748" y="205282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63440" y="274320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Base Class Library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663440" y="3246120"/>
            <a:ext cx="29718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huge collection of pre-tested code for common tasks: file handling, strings, collections, networking, database access. No need to reinvent the wheel.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229600" y="1554480"/>
            <a:ext cx="3520440" cy="44348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8503920" y="1874520"/>
            <a:ext cx="685800" cy="685800"/>
          </a:xfrm>
          <a:prstGeom prst="ellipse">
            <a:avLst/>
          </a:prstGeom>
          <a:solidFill>
            <a:srgbClr val="EEF1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2228" y="205282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03920" y="274320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Common Language Runtime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503920" y="3246120"/>
            <a:ext cx="29718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that runs your app. Handles memory management (Garbage Collection), security, exception handling, and JIT compilation.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6080760"/>
            <a:ext cx="11091672" cy="502920"/>
          </a:xfrm>
          <a:prstGeom prst="roundRect">
            <a:avLst>
              <a:gd name="adj" fmla="val 14545"/>
            </a:avLst>
          </a:prstGeom>
          <a:solidFill>
            <a:srgbClr val="EEF1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5"/>
          <p:cNvSpPr/>
          <p:nvPr/>
        </p:nvSpPr>
        <p:spPr>
          <a:xfrm>
            <a:off x="822960" y="608076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</a:t>
            </a:r>
            <a:r>
              <a:rPr lang="en-US" sz="12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writing your own logic to read a file or connect to a database, you simply “borrow” Microsoft's pre-built code.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Code Execution Works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source code to running program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600200" cy="1188720"/>
          </a:xfrm>
          <a:prstGeom prst="roundRect">
            <a:avLst>
              <a:gd name="adj" fmla="val 7692"/>
            </a:avLst>
          </a:prstGeom>
          <a:solidFill>
            <a:srgbClr val="EEF1FC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21792" y="2103120"/>
            <a:ext cx="145389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C# Code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(.cs file)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148840" y="2103120"/>
            <a:ext cx="29809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A5578"/>
                </a:solidFill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446934" y="2103120"/>
            <a:ext cx="1600200" cy="1188720"/>
          </a:xfrm>
          <a:prstGeom prst="roundRect">
            <a:avLst>
              <a:gd name="adj" fmla="val 7692"/>
            </a:avLst>
          </a:prstGeom>
          <a:solidFill>
            <a:srgbClr val="EEF1FC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520086" y="2103120"/>
            <a:ext cx="145389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 by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Compiler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047134" y="2103120"/>
            <a:ext cx="29809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A5578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345229" y="2103120"/>
            <a:ext cx="1600200" cy="1188720"/>
          </a:xfrm>
          <a:prstGeom prst="roundRect">
            <a:avLst>
              <a:gd name="adj" fmla="val 7692"/>
            </a:avLst>
          </a:prstGeom>
          <a:solidFill>
            <a:srgbClr val="EEF1FC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418381" y="2103120"/>
            <a:ext cx="145389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(IL)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5429" y="2103120"/>
            <a:ext cx="29809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A5578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243523" y="2103120"/>
            <a:ext cx="1600200" cy="1188720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316675" y="2103120"/>
            <a:ext cx="145389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CLR takes over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runtime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843723" y="2103120"/>
            <a:ext cx="29809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A5578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141818" y="2103120"/>
            <a:ext cx="1600200" cy="1188720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8214970" y="2103120"/>
            <a:ext cx="145389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 compiles IL →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Machine Code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742018" y="2103120"/>
            <a:ext cx="29809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A5578"/>
                </a:solidFill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10040112" y="2103120"/>
            <a:ext cx="1600200" cy="1188720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10113264" y="2103120"/>
            <a:ext cx="145389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703320"/>
            <a:ext cx="274320" cy="274320"/>
          </a:xfrm>
          <a:prstGeom prst="rect">
            <a:avLst/>
          </a:prstGeom>
          <a:solidFill>
            <a:srgbClr val="EEF1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914400" y="367588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time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926080" y="3703320"/>
            <a:ext cx="274320" cy="2743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291840" y="367588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(CLR)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4343400"/>
            <a:ext cx="11091672" cy="1965960"/>
          </a:xfrm>
          <a:prstGeom prst="roundRect">
            <a:avLst>
              <a:gd name="adj" fmla="val 4651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914400" y="455371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14400" y="4937760"/>
            <a:ext cx="66751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code compiles to IL first (not directly to machine code), the same compiled program can run on Windows, Linux, or macOS — as long as a compatible .NET runtime is installed. This is what makes .NET cross-platform.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229600" y="45720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6021" y="4738421"/>
            <a:ext cx="307238" cy="307238"/>
          </a:xfrm>
          <a:prstGeom prst="rect">
            <a:avLst/>
          </a:prstGeom>
        </p:spPr>
      </p:pic>
      <p:sp>
        <p:nvSpPr>
          <p:cNvPr id="30" name="Shape 27"/>
          <p:cNvSpPr/>
          <p:nvPr/>
        </p:nvSpPr>
        <p:spPr>
          <a:xfrm>
            <a:off x="9052560" y="45720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8981" y="4738421"/>
            <a:ext cx="307238" cy="307238"/>
          </a:xfrm>
          <a:prstGeom prst="rect">
            <a:avLst/>
          </a:prstGeom>
        </p:spPr>
      </p:pic>
      <p:sp>
        <p:nvSpPr>
          <p:cNvPr id="32" name="Shape 28"/>
          <p:cNvSpPr/>
          <p:nvPr/>
        </p:nvSpPr>
        <p:spPr>
          <a:xfrm>
            <a:off x="9875520" y="45720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1941" y="4738421"/>
            <a:ext cx="307238" cy="307238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8229600" y="52578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all three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IL, CLR &amp; JIT — A Closer Look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pillars behind how .NET code actually runs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20440" cy="416052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04672" y="1673352"/>
            <a:ext cx="566928" cy="566928"/>
          </a:xfrm>
          <a:prstGeom prst="ellipse">
            <a:avLst/>
          </a:prstGeom>
          <a:solidFill>
            <a:srgbClr val="EEF1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073" y="1820753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636776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508760" y="2002536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Language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04672" y="2404872"/>
            <a:ext cx="300837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CPU-independent bytecode your compiler produces — not machine code yet, and not readable source either.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04672" y="3227832"/>
            <a:ext cx="3008376" cy="0"/>
          </a:xfrm>
          <a:prstGeom prst="line">
            <a:avLst/>
          </a:prstGeom>
          <a:noFill/>
          <a:ln w="12700">
            <a:solidFill>
              <a:srgbClr val="E4E8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804672" y="3383280"/>
            <a:ext cx="3008376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called MSIL or CIL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Produced by the language compiler (e.g. csc.exe for C#)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inside the assembly (.dll / .exe) along with metadata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IL format regardless of source language (C#, F#, VB.NET)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389120" y="1417320"/>
            <a:ext cx="3520440" cy="416052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4645152" y="1673352"/>
            <a:ext cx="566928" cy="566928"/>
          </a:xfrm>
          <a:prstGeom prst="ellipse">
            <a:avLst/>
          </a:prstGeom>
          <a:solidFill>
            <a:srgbClr val="EEF1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2553" y="1820753"/>
            <a:ext cx="272125" cy="27212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49240" y="1636776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CLR</a:t>
            </a:r>
            <a:endParaRPr lang="en-US" sz="1900" dirty="0"/>
          </a:p>
        </p:txBody>
      </p:sp>
      <p:sp>
        <p:nvSpPr>
          <p:cNvPr id="16" name="Text 12"/>
          <p:cNvSpPr/>
          <p:nvPr/>
        </p:nvSpPr>
        <p:spPr>
          <a:xfrm>
            <a:off x="5349240" y="2002536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Language Runtime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4645152" y="2404872"/>
            <a:ext cx="300837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execution engine — a managed “virtual machine” that loads and runs your assemblies.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4645152" y="3227832"/>
            <a:ext cx="3008376" cy="0"/>
          </a:xfrm>
          <a:prstGeom prst="line">
            <a:avLst/>
          </a:prstGeom>
          <a:noFill/>
          <a:ln w="12700">
            <a:solidFill>
              <a:srgbClr val="E4E8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5"/>
          <p:cNvSpPr/>
          <p:nvPr/>
        </p:nvSpPr>
        <p:spPr>
          <a:xfrm>
            <a:off x="4645152" y="3383280"/>
            <a:ext cx="3008376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assemblies and verifies type safety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memory management via the Garbage Collector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exception handling &amp; security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threads and app-domain isolation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8229600" y="1417320"/>
            <a:ext cx="3520440" cy="416052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7"/>
          <p:cNvSpPr/>
          <p:nvPr/>
        </p:nvSpPr>
        <p:spPr>
          <a:xfrm>
            <a:off x="8485632" y="1673352"/>
            <a:ext cx="566928" cy="566928"/>
          </a:xfrm>
          <a:prstGeom prst="ellipse">
            <a:avLst/>
          </a:prstGeom>
          <a:solidFill>
            <a:srgbClr val="EEF1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3033" y="1820753"/>
            <a:ext cx="272125" cy="272125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9189720" y="1636776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JIT</a:t>
            </a:r>
            <a:endParaRPr lang="en-US" sz="1900" dirty="0"/>
          </a:p>
        </p:txBody>
      </p:sp>
      <p:sp>
        <p:nvSpPr>
          <p:cNvPr id="24" name="Text 19"/>
          <p:cNvSpPr/>
          <p:nvPr/>
        </p:nvSpPr>
        <p:spPr>
          <a:xfrm>
            <a:off x="9189720" y="2002536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Just-In-Time Compiler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8485632" y="2404872"/>
            <a:ext cx="300837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of the CLR that converts IL into native machine code the CPU can actually execute.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8485632" y="3227832"/>
            <a:ext cx="3008376" cy="0"/>
          </a:xfrm>
          <a:prstGeom prst="line">
            <a:avLst/>
          </a:prstGeom>
          <a:noFill/>
          <a:ln w="12700">
            <a:solidFill>
              <a:srgbClr val="E4E8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2"/>
          <p:cNvSpPr/>
          <p:nvPr/>
        </p:nvSpPr>
        <p:spPr>
          <a:xfrm>
            <a:off x="8485632" y="3383280"/>
            <a:ext cx="3008376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Compiles method-by-method, the first time each is called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 native code is cached and reused for the run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compilation: quick first pass, then optimizes hot paths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ReadyToRun (AOT) can pre-JIT to speed up startup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548640" y="5806440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4"/>
          <p:cNvSpPr/>
          <p:nvPr/>
        </p:nvSpPr>
        <p:spPr>
          <a:xfrm>
            <a:off x="914400" y="5806440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they connect: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emits IL → CLR loads the assembly → JIT (inside the CLR) compiles IL to native code → CPU executes it.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Evolution of .NET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Windows-only to a modern, unified, cross-platform stack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308860" y="2075688"/>
            <a:ext cx="7680960" cy="0"/>
          </a:xfrm>
          <a:prstGeom prst="line">
            <a:avLst/>
          </a:prstGeom>
          <a:noFill/>
          <a:ln w="25400">
            <a:solidFill>
              <a:srgbClr val="C7D0EE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924812" y="1691640"/>
            <a:ext cx="768096" cy="76809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924812" y="1691640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2002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77240" y="288036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Framework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3383280"/>
            <a:ext cx="3063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Windows-only.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version.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765292" y="1691640"/>
            <a:ext cx="768096" cy="76809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765292" y="1691640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89120" y="265176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617720" y="288036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Core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17720" y="3383280"/>
            <a:ext cx="3063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Rebuilt from scratch.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&amp; open-source, faster.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605772" y="1691640"/>
            <a:ext cx="768096" cy="76809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9605772" y="1691640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2020+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229600" y="265176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458200" y="288036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5, 6, 7, 8...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58200" y="3383280"/>
            <a:ext cx="3063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platform.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“.NET Core” renamed to simply “.NET” from .NET 5 onward.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257800"/>
            <a:ext cx="11091672" cy="9144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914400" y="5257800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takeaway: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when people say “.NET”, they mean modern, cross-platform .NET (5 and above) — not the old Windows-only .NET Framework.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.NET Core vs .NET Framework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paths that eventually merged into modern .NET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2148840" y="1417320"/>
            <a:ext cx="4585716" cy="868680"/>
          </a:xfrm>
          <a:prstGeom prst="roundRect">
            <a:avLst>
              <a:gd name="adj" fmla="val 10526"/>
            </a:avLst>
          </a:prstGeom>
          <a:solidFill>
            <a:srgbClr val="4A557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350008" y="1563624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7409" y="1711025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063240" y="1417320"/>
            <a:ext cx="353415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.NET Framework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7054596" y="1417320"/>
            <a:ext cx="4585716" cy="868680"/>
          </a:xfrm>
          <a:prstGeom prst="roundRect">
            <a:avLst>
              <a:gd name="adj" fmla="val 1052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7255764" y="1563624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3165" y="1711025"/>
            <a:ext cx="272125" cy="27212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968996" y="1417320"/>
            <a:ext cx="353415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.NET Core / Modern .NET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548640" y="2514600"/>
            <a:ext cx="11091672" cy="475488"/>
          </a:xfrm>
          <a:prstGeom prst="rect">
            <a:avLst/>
          </a:prstGeom>
          <a:solidFill>
            <a:srgbClr val="F5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9"/>
          <p:cNvSpPr/>
          <p:nvPr/>
        </p:nvSpPr>
        <p:spPr>
          <a:xfrm>
            <a:off x="685800" y="2514600"/>
            <a:ext cx="1417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2377440" y="2514600"/>
            <a:ext cx="412851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only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7283196" y="2514600"/>
            <a:ext cx="412851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Windows, Linux, macOS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685800" y="2990088"/>
            <a:ext cx="1417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Model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2377440" y="2990088"/>
            <a:ext cx="412851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Closed-source (mostly)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7283196" y="2990088"/>
            <a:ext cx="412851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open-source on GitHub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48640" y="3465576"/>
            <a:ext cx="11091672" cy="475488"/>
          </a:xfrm>
          <a:prstGeom prst="rect">
            <a:avLst/>
          </a:prstGeom>
          <a:solidFill>
            <a:srgbClr val="F5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6"/>
          <p:cNvSpPr/>
          <p:nvPr/>
        </p:nvSpPr>
        <p:spPr>
          <a:xfrm>
            <a:off x="685800" y="3465576"/>
            <a:ext cx="1417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2377440" y="3465576"/>
            <a:ext cx="412851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Good, but older architecture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7283196" y="3465576"/>
            <a:ext cx="412851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Significantly faster, optimized runtime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685800" y="3941064"/>
            <a:ext cx="1417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50" dirty="0"/>
          </a:p>
        </p:txBody>
      </p:sp>
      <p:sp>
        <p:nvSpPr>
          <p:cNvPr id="24" name="Text 20"/>
          <p:cNvSpPr/>
          <p:nvPr/>
        </p:nvSpPr>
        <p:spPr>
          <a:xfrm>
            <a:off x="2377440" y="3941064"/>
            <a:ext cx="412851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Shared, machine-wide install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7283196" y="3941064"/>
            <a:ext cx="412851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versions; self-contained apps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548640" y="4416552"/>
            <a:ext cx="11091672" cy="475488"/>
          </a:xfrm>
          <a:prstGeom prst="rect">
            <a:avLst/>
          </a:prstGeom>
          <a:solidFill>
            <a:srgbClr val="F5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3"/>
          <p:cNvSpPr/>
          <p:nvPr/>
        </p:nvSpPr>
        <p:spPr>
          <a:xfrm>
            <a:off x="685800" y="4416552"/>
            <a:ext cx="1417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Frameworks</a:t>
            </a:r>
            <a:endParaRPr lang="en-US" sz="1150" dirty="0"/>
          </a:p>
        </p:txBody>
      </p:sp>
      <p:sp>
        <p:nvSpPr>
          <p:cNvPr id="28" name="Text 24"/>
          <p:cNvSpPr/>
          <p:nvPr/>
        </p:nvSpPr>
        <p:spPr>
          <a:xfrm>
            <a:off x="2377440" y="4416552"/>
            <a:ext cx="412851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WinForms, WPF, ASP.NET (MVC/WebForms)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7283196" y="4416552"/>
            <a:ext cx="412851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WinForms, WPF, ASP.NET Core, MAUI, Blazor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685800" y="4892040"/>
            <a:ext cx="1417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Investment</a:t>
            </a:r>
            <a:endParaRPr lang="en-US" sz="1150" dirty="0"/>
          </a:p>
        </p:txBody>
      </p:sp>
      <p:sp>
        <p:nvSpPr>
          <p:cNvPr id="31" name="Text 27"/>
          <p:cNvSpPr/>
          <p:nvPr/>
        </p:nvSpPr>
        <p:spPr>
          <a:xfrm>
            <a:off x="2377440" y="4892040"/>
            <a:ext cx="412851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mode only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7283196" y="4892040"/>
            <a:ext cx="412851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development — all new features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548640" y="5367528"/>
            <a:ext cx="11091672" cy="475488"/>
          </a:xfrm>
          <a:prstGeom prst="rect">
            <a:avLst/>
          </a:prstGeom>
          <a:solidFill>
            <a:srgbClr val="F5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0"/>
          <p:cNvSpPr/>
          <p:nvPr/>
        </p:nvSpPr>
        <p:spPr>
          <a:xfrm>
            <a:off x="685800" y="5367528"/>
            <a:ext cx="1417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150" dirty="0"/>
          </a:p>
        </p:txBody>
      </p:sp>
      <p:sp>
        <p:nvSpPr>
          <p:cNvPr id="35" name="Text 31"/>
          <p:cNvSpPr/>
          <p:nvPr/>
        </p:nvSpPr>
        <p:spPr>
          <a:xfrm>
            <a:off x="2377440" y="5367528"/>
            <a:ext cx="412851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enterprise apps already on it</a:t>
            </a:r>
            <a:endParaRPr lang="en-US" sz="1100" dirty="0"/>
          </a:p>
        </p:txBody>
      </p:sp>
      <p:sp>
        <p:nvSpPr>
          <p:cNvPr id="36" name="Text 32"/>
          <p:cNvSpPr/>
          <p:nvPr/>
        </p:nvSpPr>
        <p:spPr>
          <a:xfrm>
            <a:off x="7283196" y="5367528"/>
            <a:ext cx="412851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new development</a:t>
            </a:r>
            <a:endParaRPr lang="en-US" sz="1100" dirty="0"/>
          </a:p>
        </p:txBody>
      </p:sp>
      <p:sp>
        <p:nvSpPr>
          <p:cNvPr id="37" name="Shape 33"/>
          <p:cNvSpPr/>
          <p:nvPr/>
        </p:nvSpPr>
        <p:spPr>
          <a:xfrm>
            <a:off x="6894576" y="2514600"/>
            <a:ext cx="0" cy="3328416"/>
          </a:xfrm>
          <a:prstGeom prst="line">
            <a:avLst/>
          </a:prstGeom>
          <a:noFill/>
          <a:ln w="12700">
            <a:solidFill>
              <a:srgbClr val="E4E8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4"/>
          <p:cNvSpPr/>
          <p:nvPr/>
        </p:nvSpPr>
        <p:spPr>
          <a:xfrm>
            <a:off x="548640" y="6263640"/>
            <a:ext cx="11091672" cy="457200"/>
          </a:xfrm>
          <a:prstGeom prst="roundRect">
            <a:avLst>
              <a:gd name="adj" fmla="val 16000"/>
            </a:avLst>
          </a:prstGeom>
          <a:solidFill>
            <a:srgbClr val="EEF1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5"/>
          <p:cNvSpPr/>
          <p:nvPr/>
        </p:nvSpPr>
        <p:spPr>
          <a:xfrm>
            <a:off x="822960" y="626364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</a:t>
            </a:r>
            <a:r>
              <a:rPr lang="en-US" sz="115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projects should always target modern .NET (5+) — .NET Framework is only for maintaining existing legacy apps.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Can You Build with .NET?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platform, many types of applications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5F7FC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04672" y="185623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318" y="1998878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0136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04672" y="251460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(MVC, Web API, Blazor)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89120" y="16002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5F7FC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4645152" y="185623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7798" y="1998878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49240" y="180136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Applications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645152" y="251460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WPF, Windows Forms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229600" y="16002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5F7FC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8485632" y="185623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8278" y="1998878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89720" y="180136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485632" y="251460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MAUI — cross-platform Android/iOS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38862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5F7FC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804672" y="414223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7318" y="4284878"/>
            <a:ext cx="263347" cy="26334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08760" y="408736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&amp; Microservices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804672" y="480060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great with Azure, Docker, Kubernetes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89120" y="38862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5F7FC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19"/>
          <p:cNvSpPr/>
          <p:nvPr/>
        </p:nvSpPr>
        <p:spPr>
          <a:xfrm>
            <a:off x="4645152" y="414223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7798" y="4284878"/>
            <a:ext cx="263347" cy="26334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49240" y="408736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645152" y="480060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engine, powered by C#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229600" y="38862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5F7FC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3"/>
          <p:cNvSpPr/>
          <p:nvPr/>
        </p:nvSpPr>
        <p:spPr>
          <a:xfrm>
            <a:off x="8485632" y="414223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28278" y="4284878"/>
            <a:ext cx="263347" cy="26334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189720" y="408736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&amp; AI/ML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485632" y="480060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applications and ML.NET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Is .NET Popular?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reasons enterprises and developers keep choosing .NET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04672" y="1856232"/>
            <a:ext cx="548640" cy="548640"/>
          </a:xfrm>
          <a:prstGeom prst="ellipse">
            <a:avLst/>
          </a:prstGeom>
          <a:solidFill>
            <a:srgbClr val="EEF1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318" y="1998878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0136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04672" y="251460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Windows, Linux, and macOS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89120" y="16002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4645152" y="1856232"/>
            <a:ext cx="548640" cy="548640"/>
          </a:xfrm>
          <a:prstGeom prst="ellipse">
            <a:avLst/>
          </a:prstGeom>
          <a:solidFill>
            <a:srgbClr val="EEF1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7798" y="1998878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49240" y="180136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645152" y="251460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lives on GitHub, community-driven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229600" y="16002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8485632" y="1856232"/>
            <a:ext cx="548640" cy="548640"/>
          </a:xfrm>
          <a:prstGeom prst="ellipse">
            <a:avLst/>
          </a:prstGeom>
          <a:solidFill>
            <a:srgbClr val="EEF1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8278" y="1998878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89720" y="180136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Performance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485632" y="251460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Regularly benchmarks among the fastest web frameworks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38862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804672" y="4142232"/>
            <a:ext cx="548640" cy="548640"/>
          </a:xfrm>
          <a:prstGeom prst="ellipse">
            <a:avLst/>
          </a:prstGeom>
          <a:solidFill>
            <a:srgbClr val="EEF1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7318" y="4284878"/>
            <a:ext cx="263347" cy="26334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08760" y="408736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Tooling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804672" y="480060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Studio &amp; VS Code with IntelliSense and debugging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89120" y="38862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19"/>
          <p:cNvSpPr/>
          <p:nvPr/>
        </p:nvSpPr>
        <p:spPr>
          <a:xfrm>
            <a:off x="4645152" y="4142232"/>
            <a:ext cx="548640" cy="548640"/>
          </a:xfrm>
          <a:prstGeom prst="ellipse">
            <a:avLst/>
          </a:prstGeom>
          <a:solidFill>
            <a:srgbClr val="EEF1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7798" y="4284878"/>
            <a:ext cx="263347" cy="26334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49240" y="408736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Backed by Microsoft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645152" y="480060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support and enterprise adoption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229600" y="38862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3"/>
          <p:cNvSpPr/>
          <p:nvPr/>
        </p:nvSpPr>
        <p:spPr>
          <a:xfrm>
            <a:off x="8485632" y="4142232"/>
            <a:ext cx="548640" cy="548640"/>
          </a:xfrm>
          <a:prstGeom prst="ellipse">
            <a:avLst/>
          </a:prstGeom>
          <a:solidFill>
            <a:srgbClr val="EEF1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28278" y="4284878"/>
            <a:ext cx="263347" cy="26334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189720" y="408736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Huge Ecosystem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485632" y="480060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NuGet offers hundreds of thousands of packages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solidFill>
            <a:srgbClr val="141B4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463040" y="4572000"/>
            <a:ext cx="3291840" cy="3291840"/>
          </a:xfrm>
          <a:prstGeom prst="ellipse">
            <a:avLst/>
          </a:prstGeom>
          <a:solidFill>
            <a:srgbClr val="141B4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822960" cy="822960"/>
          </a:xfrm>
          <a:prstGeom prst="ellipse">
            <a:avLst/>
          </a:prstGeom>
          <a:solidFill>
            <a:srgbClr val="4F6B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930" y="2499970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3291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365760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C# Language Basics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822960" y="46177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 •  Data Types  •  Control Statements  •  Loops  •  Methods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267763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 in C#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488600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storage locations for data that can change during execution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4998145" cy="14552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Variable?
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variable is a name given to a memory location that stores a value your program can read, use, and modify.
</a:t>
            </a:r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Rules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3014328"/>
            <a:ext cx="4055852" cy="107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start with a letter or underscore, never a digit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Case-sensitive — age and Age are different variables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use reserved keywords (int, class, if, etc.)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Convention: use camelCase — e.g. firstName, totalCount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4251960"/>
            <a:ext cx="196164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to Declare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46634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</a:rPr>
              <a:t>Explicit:  </a:t>
            </a:r>
            <a:r>
              <a:rPr lang="en-US" sz="1150" dirty="0">
                <a:solidFill>
                  <a:srgbClr val="4F6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age = 25;   </a:t>
            </a:r>
            <a:r>
              <a:rPr lang="en-US" sz="1050" i="1" dirty="0">
                <a:solidFill>
                  <a:srgbClr val="5A6488"/>
                </a:solidFill>
              </a:rPr>
              <a:t>— You specify the exact type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5047488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</a:rPr>
              <a:t>Implicit:  </a:t>
            </a:r>
            <a:r>
              <a:rPr lang="en-US" sz="1150" dirty="0">
                <a:solidFill>
                  <a:srgbClr val="4F6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age = 25;   </a:t>
            </a:r>
            <a:r>
              <a:rPr lang="en-US" sz="1050" i="1" dirty="0">
                <a:solidFill>
                  <a:srgbClr val="5A6488"/>
                </a:solidFill>
              </a:rPr>
              <a:t>— Compiler infers the type (still static)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5431536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</a:rPr>
              <a:t>Constant:  </a:t>
            </a:r>
            <a:r>
              <a:rPr lang="en-US" sz="1150" dirty="0">
                <a:solidFill>
                  <a:srgbClr val="4F6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double Pi = 3.14;   </a:t>
            </a:r>
            <a:r>
              <a:rPr lang="en-US" sz="1050" i="1" dirty="0">
                <a:solidFill>
                  <a:srgbClr val="5A6488"/>
                </a:solidFill>
              </a:rPr>
              <a:t>— Value can never change after this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63640" y="1417320"/>
            <a:ext cx="5394960" cy="3246120"/>
          </a:xfrm>
          <a:prstGeom prst="roundRect">
            <a:avLst>
              <a:gd name="adj" fmla="val 2254"/>
            </a:avLst>
          </a:prstGeom>
          <a:solidFill>
            <a:srgbClr val="1B1F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6409944" y="1545336"/>
            <a:ext cx="64008" cy="6400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556248" y="1545336"/>
            <a:ext cx="64008" cy="6400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702552" y="1545336"/>
            <a:ext cx="64008" cy="6400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464808" y="1728216"/>
            <a:ext cx="4992624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Declaring and using variables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age = 25;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name = "Santosh";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salary = 45000.50;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isActive = true;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Using the variable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Console.WriteLine(name);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= age + 1;   // value changes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63640" y="4846320"/>
            <a:ext cx="5394960" cy="1234440"/>
          </a:xfrm>
          <a:prstGeom prst="roundRect">
            <a:avLst>
              <a:gd name="adj" fmla="val 7407"/>
            </a:avLst>
          </a:prstGeom>
          <a:solidFill>
            <a:srgbClr val="EEF1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492240" y="4846320"/>
            <a:ext cx="4937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point: </a:t>
            </a:r>
            <a:r>
              <a:rPr lang="en-US" sz="115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is statically typed — once a variable's type is set, it cannot hold a value of a different type.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Operators in C#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Symbols that perform an action on one or more values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084832" cy="2286000"/>
          </a:xfrm>
          <a:prstGeom prst="roundRect">
            <a:avLst>
              <a:gd name="adj" fmla="val 4386"/>
            </a:avLst>
          </a:prstGeom>
          <a:solidFill>
            <a:srgbClr val="F5F7FC"/>
          </a:solidFill>
          <a:ln/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362456" y="160020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1328" y="1719072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194560"/>
            <a:ext cx="19019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58368" y="2715768"/>
            <a:ext cx="1865376" cy="365760"/>
          </a:xfrm>
          <a:prstGeom prst="roundRect">
            <a:avLst>
              <a:gd name="adj" fmla="val 15000"/>
            </a:avLst>
          </a:prstGeom>
          <a:solidFill>
            <a:srgbClr val="1B1F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658368" y="2715768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 -  *  /  %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58368" y="3154680"/>
            <a:ext cx="186537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6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math: add, subtract, multiply, divide, remainder</a:t>
            </a:r>
            <a:endParaRPr lang="en-US" sz="860" dirty="0"/>
          </a:p>
        </p:txBody>
      </p:sp>
      <p:sp>
        <p:nvSpPr>
          <p:cNvPr id="11" name="Shape 8"/>
          <p:cNvSpPr/>
          <p:nvPr/>
        </p:nvSpPr>
        <p:spPr>
          <a:xfrm>
            <a:off x="2807208" y="1417320"/>
            <a:ext cx="2084832" cy="2286000"/>
          </a:xfrm>
          <a:prstGeom prst="roundRect">
            <a:avLst>
              <a:gd name="adj" fmla="val 4386"/>
            </a:avLst>
          </a:prstGeom>
          <a:solidFill>
            <a:srgbClr val="F5F7FC"/>
          </a:solidFill>
          <a:ln/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3621024" y="160020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9896" y="1719072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898648" y="2194560"/>
            <a:ext cx="19019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2916936" y="2715768"/>
            <a:ext cx="1865376" cy="365760"/>
          </a:xfrm>
          <a:prstGeom prst="roundRect">
            <a:avLst>
              <a:gd name="adj" fmla="val 15000"/>
            </a:avLst>
          </a:prstGeom>
          <a:solidFill>
            <a:srgbClr val="1B1F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2"/>
          <p:cNvSpPr/>
          <p:nvPr/>
        </p:nvSpPr>
        <p:spPr>
          <a:xfrm>
            <a:off x="2916936" y="2715768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  !=  &gt;  &lt;  &gt;=  &lt;=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2916936" y="3154680"/>
            <a:ext cx="186537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6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two values; always returns true or false</a:t>
            </a:r>
            <a:endParaRPr lang="en-US" sz="860" dirty="0"/>
          </a:p>
        </p:txBody>
      </p:sp>
      <p:sp>
        <p:nvSpPr>
          <p:cNvPr id="18" name="Shape 14"/>
          <p:cNvSpPr/>
          <p:nvPr/>
        </p:nvSpPr>
        <p:spPr>
          <a:xfrm>
            <a:off x="5065776" y="1417320"/>
            <a:ext cx="2084832" cy="2286000"/>
          </a:xfrm>
          <a:prstGeom prst="roundRect">
            <a:avLst>
              <a:gd name="adj" fmla="val 4386"/>
            </a:avLst>
          </a:prstGeom>
          <a:solidFill>
            <a:srgbClr val="F5F7FC"/>
          </a:solidFill>
          <a:ln/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5"/>
          <p:cNvSpPr/>
          <p:nvPr/>
        </p:nvSpPr>
        <p:spPr>
          <a:xfrm>
            <a:off x="5879592" y="160020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8464" y="1719072"/>
            <a:ext cx="219456" cy="21945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157216" y="2194560"/>
            <a:ext cx="19019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5175504" y="2715768"/>
            <a:ext cx="1865376" cy="365760"/>
          </a:xfrm>
          <a:prstGeom prst="roundRect">
            <a:avLst>
              <a:gd name="adj" fmla="val 15000"/>
            </a:avLst>
          </a:prstGeom>
          <a:solidFill>
            <a:srgbClr val="1B1F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18"/>
          <p:cNvSpPr/>
          <p:nvPr/>
        </p:nvSpPr>
        <p:spPr>
          <a:xfrm>
            <a:off x="5175504" y="2715768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&amp;&amp;   ||   !</a:t>
            </a:r>
            <a:endParaRPr lang="en-US" sz="950" dirty="0"/>
          </a:p>
        </p:txBody>
      </p:sp>
      <p:sp>
        <p:nvSpPr>
          <p:cNvPr id="24" name="Text 19"/>
          <p:cNvSpPr/>
          <p:nvPr/>
        </p:nvSpPr>
        <p:spPr>
          <a:xfrm>
            <a:off x="5175504" y="3154680"/>
            <a:ext cx="186537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6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multiple boolean conditions</a:t>
            </a:r>
            <a:endParaRPr lang="en-US" sz="860" dirty="0"/>
          </a:p>
        </p:txBody>
      </p:sp>
      <p:sp>
        <p:nvSpPr>
          <p:cNvPr id="25" name="Shape 20"/>
          <p:cNvSpPr/>
          <p:nvPr/>
        </p:nvSpPr>
        <p:spPr>
          <a:xfrm>
            <a:off x="7324344" y="1417320"/>
            <a:ext cx="2084832" cy="2286000"/>
          </a:xfrm>
          <a:prstGeom prst="roundRect">
            <a:avLst>
              <a:gd name="adj" fmla="val 4386"/>
            </a:avLst>
          </a:prstGeom>
          <a:solidFill>
            <a:srgbClr val="F5F7FC"/>
          </a:solidFill>
          <a:ln/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1"/>
          <p:cNvSpPr/>
          <p:nvPr/>
        </p:nvSpPr>
        <p:spPr>
          <a:xfrm>
            <a:off x="8138160" y="160020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57032" y="1719072"/>
            <a:ext cx="219456" cy="21945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415784" y="2194560"/>
            <a:ext cx="19019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7434072" y="2715768"/>
            <a:ext cx="1865376" cy="365760"/>
          </a:xfrm>
          <a:prstGeom prst="roundRect">
            <a:avLst>
              <a:gd name="adj" fmla="val 15000"/>
            </a:avLst>
          </a:prstGeom>
          <a:solidFill>
            <a:srgbClr val="1B1F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4"/>
          <p:cNvSpPr/>
          <p:nvPr/>
        </p:nvSpPr>
        <p:spPr>
          <a:xfrm>
            <a:off x="7434072" y="2715768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 +=  -=  *=  /=  %=</a:t>
            </a:r>
            <a:endParaRPr lang="en-US" sz="950" dirty="0"/>
          </a:p>
        </p:txBody>
      </p:sp>
      <p:sp>
        <p:nvSpPr>
          <p:cNvPr id="31" name="Text 25"/>
          <p:cNvSpPr/>
          <p:nvPr/>
        </p:nvSpPr>
        <p:spPr>
          <a:xfrm>
            <a:off x="7434072" y="3154680"/>
            <a:ext cx="186537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6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 a value, optionally combined with an operation</a:t>
            </a:r>
            <a:endParaRPr lang="en-US" sz="860" dirty="0"/>
          </a:p>
        </p:txBody>
      </p:sp>
      <p:sp>
        <p:nvSpPr>
          <p:cNvPr id="32" name="Shape 26"/>
          <p:cNvSpPr/>
          <p:nvPr/>
        </p:nvSpPr>
        <p:spPr>
          <a:xfrm>
            <a:off x="9582912" y="1417320"/>
            <a:ext cx="2084832" cy="2286000"/>
          </a:xfrm>
          <a:prstGeom prst="roundRect">
            <a:avLst>
              <a:gd name="adj" fmla="val 4386"/>
            </a:avLst>
          </a:prstGeom>
          <a:solidFill>
            <a:srgbClr val="F5F7FC"/>
          </a:solidFill>
          <a:ln/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27"/>
          <p:cNvSpPr/>
          <p:nvPr/>
        </p:nvSpPr>
        <p:spPr>
          <a:xfrm>
            <a:off x="10396728" y="160020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15600" y="1719072"/>
            <a:ext cx="219456" cy="219456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9674352" y="2194560"/>
            <a:ext cx="19019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 / Decrement</a:t>
            </a:r>
            <a:endParaRPr lang="en-US" sz="1150" dirty="0"/>
          </a:p>
        </p:txBody>
      </p:sp>
      <p:sp>
        <p:nvSpPr>
          <p:cNvPr id="36" name="Shape 29"/>
          <p:cNvSpPr/>
          <p:nvPr/>
        </p:nvSpPr>
        <p:spPr>
          <a:xfrm>
            <a:off x="9692640" y="2715768"/>
            <a:ext cx="1865376" cy="365760"/>
          </a:xfrm>
          <a:prstGeom prst="roundRect">
            <a:avLst>
              <a:gd name="adj" fmla="val 15000"/>
            </a:avLst>
          </a:prstGeom>
          <a:solidFill>
            <a:srgbClr val="1B1F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0"/>
          <p:cNvSpPr/>
          <p:nvPr/>
        </p:nvSpPr>
        <p:spPr>
          <a:xfrm>
            <a:off x="9692640" y="2715768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++   --</a:t>
            </a:r>
            <a:endParaRPr lang="en-US" sz="950" dirty="0"/>
          </a:p>
        </p:txBody>
      </p:sp>
      <p:sp>
        <p:nvSpPr>
          <p:cNvPr id="38" name="Text 31"/>
          <p:cNvSpPr/>
          <p:nvPr/>
        </p:nvSpPr>
        <p:spPr>
          <a:xfrm>
            <a:off x="9692640" y="3154680"/>
            <a:ext cx="186537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6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Increases or decreases a variable's value by exactly 1</a:t>
            </a:r>
            <a:endParaRPr lang="en-US" sz="860" dirty="0"/>
          </a:p>
        </p:txBody>
      </p:sp>
      <p:sp>
        <p:nvSpPr>
          <p:cNvPr id="39" name="Shape 32"/>
          <p:cNvSpPr/>
          <p:nvPr/>
        </p:nvSpPr>
        <p:spPr>
          <a:xfrm>
            <a:off x="548640" y="3931920"/>
            <a:ext cx="6949440" cy="2606040"/>
          </a:xfrm>
          <a:prstGeom prst="roundRect">
            <a:avLst>
              <a:gd name="adj" fmla="val 2807"/>
            </a:avLst>
          </a:prstGeom>
          <a:solidFill>
            <a:srgbClr val="1B1F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Shape 33"/>
          <p:cNvSpPr/>
          <p:nvPr/>
        </p:nvSpPr>
        <p:spPr>
          <a:xfrm>
            <a:off x="694944" y="4059936"/>
            <a:ext cx="64008" cy="6400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Shape 34"/>
          <p:cNvSpPr/>
          <p:nvPr/>
        </p:nvSpPr>
        <p:spPr>
          <a:xfrm>
            <a:off x="841248" y="4059936"/>
            <a:ext cx="64008" cy="6400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Shape 35"/>
          <p:cNvSpPr/>
          <p:nvPr/>
        </p:nvSpPr>
        <p:spPr>
          <a:xfrm>
            <a:off x="987552" y="4059936"/>
            <a:ext cx="64008" cy="6400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36"/>
          <p:cNvSpPr/>
          <p:nvPr/>
        </p:nvSpPr>
        <p:spPr>
          <a:xfrm>
            <a:off x="749808" y="4242816"/>
            <a:ext cx="6547104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System;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Program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static void Main()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int a = 10, b = 3;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Console.WriteLine(a + b);          // Arithmetic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Console.WriteLine(a &gt; b);           // Relational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Console.WriteLine(a &gt; b &amp;&amp; b &gt; 0);  // Logical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 += 5;                             // Assignment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Console.WriteLine(a);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a++;                                 // Increment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Console.WriteLine(a);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44" name="Shape 37"/>
          <p:cNvSpPr/>
          <p:nvPr/>
        </p:nvSpPr>
        <p:spPr>
          <a:xfrm>
            <a:off x="7635240" y="3931920"/>
            <a:ext cx="4005072" cy="2606040"/>
          </a:xfrm>
          <a:prstGeom prst="roundRect">
            <a:avLst>
              <a:gd name="adj" fmla="val 2807"/>
            </a:avLst>
          </a:prstGeom>
          <a:solidFill>
            <a:srgbClr val="0E10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Shape 38"/>
          <p:cNvSpPr/>
          <p:nvPr/>
        </p:nvSpPr>
        <p:spPr>
          <a:xfrm>
            <a:off x="7818120" y="4078224"/>
            <a:ext cx="310896" cy="310896"/>
          </a:xfrm>
          <a:prstGeom prst="ellipse">
            <a:avLst/>
          </a:prstGeom>
          <a:solidFill>
            <a:srgbClr val="2A347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98953" y="4159057"/>
            <a:ext cx="149230" cy="149230"/>
          </a:xfrm>
          <a:prstGeom prst="rect">
            <a:avLst/>
          </a:prstGeom>
        </p:spPr>
      </p:pic>
      <p:sp>
        <p:nvSpPr>
          <p:cNvPr id="47" name="Text 39"/>
          <p:cNvSpPr/>
          <p:nvPr/>
        </p:nvSpPr>
        <p:spPr>
          <a:xfrm>
            <a:off x="8202168" y="4078224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C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48" name="Text 40"/>
          <p:cNvSpPr/>
          <p:nvPr/>
        </p:nvSpPr>
        <p:spPr>
          <a:xfrm>
            <a:off x="7909560" y="4526280"/>
            <a:ext cx="3456432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7C9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7C9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7C9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7C9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7C9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 &amp; Memory Allocation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 variables actually live while your program runs?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25780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77240" y="1645920"/>
            <a:ext cx="548640" cy="548640"/>
          </a:xfrm>
          <a:prstGeom prst="ellipse">
            <a:avLst/>
          </a:prstGeom>
          <a:solidFill>
            <a:srgbClr val="EEF1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886" y="178856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67335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77240" y="2286000"/>
            <a:ext cx="48006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value types (int, double, bool, char, struct)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stores references themselves, and method call frames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Fast: fixed-size, LIFO (last-in, first-out) allocation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cleaned up when a variable goes out of scope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126480" y="1417320"/>
            <a:ext cx="5257800" cy="2331720"/>
          </a:xfrm>
          <a:prstGeom prst="roundRect">
            <a:avLst>
              <a:gd name="adj" fmla="val 392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6355080" y="1645920"/>
            <a:ext cx="548640" cy="548640"/>
          </a:xfrm>
          <a:prstGeom prst="ellipse">
            <a:avLst/>
          </a:prstGeom>
          <a:solidFill>
            <a:srgbClr val="2A347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7726" y="178856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40880" y="167335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Heap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355080" y="2286000"/>
            <a:ext cx="48006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reference types (string, arrays, class instances, objects)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variable on the stack holds a reference (address) into the heap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than stack; size can grow dynamically at runtime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up later by the Garbage Collector, not immediately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977640"/>
            <a:ext cx="11091672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1"/>
          <p:cNvSpPr/>
          <p:nvPr/>
        </p:nvSpPr>
        <p:spPr>
          <a:xfrm>
            <a:off x="822960" y="408736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value type vs. reference type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822960" y="44805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x = 10;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822960" y="4846320"/>
            <a:ext cx="1463040" cy="502920"/>
          </a:xfrm>
          <a:prstGeom prst="rect">
            <a:avLst/>
          </a:prstGeom>
          <a:solidFill>
            <a:srgbClr val="EEF1FC"/>
          </a:solidFill>
          <a:ln w="12700">
            <a:solidFill>
              <a:srgbClr val="C7D0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4"/>
          <p:cNvSpPr/>
          <p:nvPr/>
        </p:nvSpPr>
        <p:spPr>
          <a:xfrm>
            <a:off x="822960" y="484632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Stack: x = 10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3749040" y="44805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s = "Hi";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3749040" y="4846320"/>
            <a:ext cx="1737360" cy="502920"/>
          </a:xfrm>
          <a:prstGeom prst="rect">
            <a:avLst/>
          </a:prstGeom>
          <a:solidFill>
            <a:srgbClr val="EEF1FC"/>
          </a:solidFill>
          <a:ln w="12700">
            <a:solidFill>
              <a:srgbClr val="C7D0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7"/>
          <p:cNvSpPr/>
          <p:nvPr/>
        </p:nvSpPr>
        <p:spPr>
          <a:xfrm>
            <a:off x="3749040" y="48463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Stack: s = 0xA1F...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5532120" y="484632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A5578"/>
                </a:solidFill>
              </a:rPr>
              <a:t>→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6126480" y="4846320"/>
            <a:ext cx="1828800" cy="5029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0"/>
          <p:cNvSpPr/>
          <p:nvPr/>
        </p:nvSpPr>
        <p:spPr>
          <a:xfrm>
            <a:off x="6126480" y="48463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Heap: "Hi"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8229600" y="44805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reference (address) lives on the stack; the actual string data lives on the heap.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548640" y="5760720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EEF1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3"/>
          <p:cNvSpPr/>
          <p:nvPr/>
        </p:nvSpPr>
        <p:spPr>
          <a:xfrm>
            <a:off x="822960" y="576072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</a:t>
            </a:r>
            <a:r>
              <a:rPr lang="en-US" sz="115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allocation is fast and predictable; heap allocation is flexible but relies on the Garbage Collector, which is why excessive object creation can affect performance.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Types in C#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variable in C# has a type that defines what kind of data it can hold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2578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77240" y="1618488"/>
            <a:ext cx="502920" cy="502920"/>
          </a:xfrm>
          <a:prstGeom prst="ellipse">
            <a:avLst/>
          </a:prstGeom>
          <a:solidFill>
            <a:srgbClr val="EEF1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99" y="1749247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6002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Types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417320" y="19476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the actual data directly. Stack-allocated, fast access.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77240" y="246888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 •  double  •  float  •  bool  •  char  •  decimal  •  struct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126480" y="1417320"/>
            <a:ext cx="5257800" cy="1554480"/>
          </a:xfrm>
          <a:prstGeom prst="roundRect">
            <a:avLst>
              <a:gd name="adj" fmla="val 588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6355080" y="1618488"/>
            <a:ext cx="502920" cy="502920"/>
          </a:xfrm>
          <a:prstGeom prst="ellipse">
            <a:avLst/>
          </a:prstGeom>
          <a:solidFill>
            <a:srgbClr val="2A347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5839" y="1749247"/>
            <a:ext cx="241402" cy="24140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95160" y="16002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Types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995160" y="19476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 reference (address) to the data. Heap-allocated.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6355080" y="246888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 •  object  •  array  •  class instances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48640" y="3246120"/>
            <a:ext cx="11091672" cy="420624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3"/>
          <p:cNvSpPr/>
          <p:nvPr/>
        </p:nvSpPr>
        <p:spPr>
          <a:xfrm>
            <a:off x="685800" y="3246120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2240280" y="3246120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5074920" y="3246120"/>
            <a:ext cx="55138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548640" y="3666744"/>
            <a:ext cx="11091672" cy="420624"/>
          </a:xfrm>
          <a:prstGeom prst="rect">
            <a:avLst/>
          </a:prstGeom>
          <a:solidFill>
            <a:srgbClr val="EEF1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7"/>
          <p:cNvSpPr/>
          <p:nvPr/>
        </p:nvSpPr>
        <p:spPr>
          <a:xfrm>
            <a:off x="685800" y="3666744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2240280" y="3666744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F6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age = 25;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5074920" y="3666744"/>
            <a:ext cx="55138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numbers (32-bit)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548640" y="4087368"/>
            <a:ext cx="11091672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1"/>
          <p:cNvSpPr/>
          <p:nvPr/>
        </p:nvSpPr>
        <p:spPr>
          <a:xfrm>
            <a:off x="685800" y="4087368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2240280" y="4087368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F6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price = 9.99;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5074920" y="4087368"/>
            <a:ext cx="55138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 numbers, ~15-16 digit precision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548640" y="4507992"/>
            <a:ext cx="11091672" cy="420624"/>
          </a:xfrm>
          <a:prstGeom prst="rect">
            <a:avLst/>
          </a:prstGeom>
          <a:solidFill>
            <a:srgbClr val="EEF1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5"/>
          <p:cNvSpPr/>
          <p:nvPr/>
        </p:nvSpPr>
        <p:spPr>
          <a:xfrm>
            <a:off x="685800" y="4507992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2240280" y="4507992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F6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isDone = true;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5074920" y="4507992"/>
            <a:ext cx="55138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or false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548640" y="4928616"/>
            <a:ext cx="11091672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29"/>
          <p:cNvSpPr/>
          <p:nvPr/>
        </p:nvSpPr>
        <p:spPr>
          <a:xfrm>
            <a:off x="685800" y="4928616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2240280" y="4928616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F6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 grade = 'A';</a:t>
            </a:r>
            <a:endParaRPr lang="en-US" sz="1100" dirty="0"/>
          </a:p>
        </p:txBody>
      </p:sp>
      <p:sp>
        <p:nvSpPr>
          <p:cNvPr id="35" name="Text 31"/>
          <p:cNvSpPr/>
          <p:nvPr/>
        </p:nvSpPr>
        <p:spPr>
          <a:xfrm>
            <a:off x="5074920" y="4928616"/>
            <a:ext cx="55138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Unicode character</a:t>
            </a:r>
            <a:endParaRPr lang="en-US" sz="1100" dirty="0"/>
          </a:p>
        </p:txBody>
      </p:sp>
      <p:sp>
        <p:nvSpPr>
          <p:cNvPr id="36" name="Shape 32"/>
          <p:cNvSpPr/>
          <p:nvPr/>
        </p:nvSpPr>
        <p:spPr>
          <a:xfrm>
            <a:off x="548640" y="5349240"/>
            <a:ext cx="11091672" cy="420624"/>
          </a:xfrm>
          <a:prstGeom prst="rect">
            <a:avLst/>
          </a:prstGeom>
          <a:solidFill>
            <a:srgbClr val="EEF1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3"/>
          <p:cNvSpPr/>
          <p:nvPr/>
        </p:nvSpPr>
        <p:spPr>
          <a:xfrm>
            <a:off x="685800" y="5349240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1100" dirty="0"/>
          </a:p>
        </p:txBody>
      </p:sp>
      <p:sp>
        <p:nvSpPr>
          <p:cNvPr id="38" name="Text 34"/>
          <p:cNvSpPr/>
          <p:nvPr/>
        </p:nvSpPr>
        <p:spPr>
          <a:xfrm>
            <a:off x="2240280" y="5349240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F6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city = "Chennai";</a:t>
            </a:r>
            <a:endParaRPr lang="en-US" sz="1100" dirty="0"/>
          </a:p>
        </p:txBody>
      </p:sp>
      <p:sp>
        <p:nvSpPr>
          <p:cNvPr id="39" name="Text 35"/>
          <p:cNvSpPr/>
          <p:nvPr/>
        </p:nvSpPr>
        <p:spPr>
          <a:xfrm>
            <a:off x="5074920" y="5349240"/>
            <a:ext cx="55138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sequence of characters (text)</a:t>
            </a:r>
            <a:endParaRPr lang="en-US" sz="1100" dirty="0"/>
          </a:p>
        </p:txBody>
      </p:sp>
      <p:sp>
        <p:nvSpPr>
          <p:cNvPr id="40" name="Shape 36"/>
          <p:cNvSpPr/>
          <p:nvPr/>
        </p:nvSpPr>
        <p:spPr>
          <a:xfrm>
            <a:off x="548640" y="5852160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EEF1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7"/>
          <p:cNvSpPr/>
          <p:nvPr/>
        </p:nvSpPr>
        <p:spPr>
          <a:xfrm>
            <a:off x="822960" y="585216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var: </a:t>
            </a:r>
            <a:r>
              <a:rPr lang="en-US" sz="115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age = 25; still creates a strongly-typed int — the compiler infers the type from the assigned value at compile time.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Statements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Directing which code runs, based on conditions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457200" cy="457200"/>
          </a:xfrm>
          <a:prstGeom prst="ellipse">
            <a:avLst/>
          </a:prstGeom>
          <a:solidFill>
            <a:srgbClr val="EEF1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1581912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44475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/ else if / else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188720" y="1764792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 block only when a condition is true; else if chains multiple conditions; else is the fallback.</a:t>
            </a:r>
            <a:endParaRPr lang="en-US" sz="1080" dirty="0"/>
          </a:p>
        </p:txBody>
      </p:sp>
      <p:sp>
        <p:nvSpPr>
          <p:cNvPr id="8" name="Shape 5"/>
          <p:cNvSpPr/>
          <p:nvPr/>
        </p:nvSpPr>
        <p:spPr>
          <a:xfrm>
            <a:off x="548640" y="2606040"/>
            <a:ext cx="457200" cy="457200"/>
          </a:xfrm>
          <a:prstGeom prst="ellipse">
            <a:avLst/>
          </a:prstGeom>
          <a:solidFill>
            <a:srgbClr val="EEF1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2724912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88720" y="258775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statement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1188720" y="2907792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one value against many possible cases — cleaner than a long if-else chain.</a:t>
            </a:r>
            <a:endParaRPr lang="en-US" sz="1080" dirty="0"/>
          </a:p>
        </p:txBody>
      </p:sp>
      <p:sp>
        <p:nvSpPr>
          <p:cNvPr id="12" name="Shape 8"/>
          <p:cNvSpPr/>
          <p:nvPr/>
        </p:nvSpPr>
        <p:spPr>
          <a:xfrm>
            <a:off x="548640" y="3749040"/>
            <a:ext cx="457200" cy="457200"/>
          </a:xfrm>
          <a:prstGeom prst="ellipse">
            <a:avLst/>
          </a:prstGeom>
          <a:solidFill>
            <a:srgbClr val="EEF1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3867912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88720" y="373075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Ternary operator ?: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1188720" y="4050792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compact one-line if-else: condition ? valueIfTrue : valueIfFalse</a:t>
            </a:r>
            <a:endParaRPr lang="en-US" sz="1080" dirty="0"/>
          </a:p>
        </p:txBody>
      </p:sp>
      <p:sp>
        <p:nvSpPr>
          <p:cNvPr id="16" name="Shape 11"/>
          <p:cNvSpPr/>
          <p:nvPr/>
        </p:nvSpPr>
        <p:spPr>
          <a:xfrm>
            <a:off x="6263640" y="141732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1B1F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2"/>
          <p:cNvSpPr/>
          <p:nvPr/>
        </p:nvSpPr>
        <p:spPr>
          <a:xfrm>
            <a:off x="6409944" y="1545336"/>
            <a:ext cx="64008" cy="6400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3"/>
          <p:cNvSpPr/>
          <p:nvPr/>
        </p:nvSpPr>
        <p:spPr>
          <a:xfrm>
            <a:off x="6556248" y="1545336"/>
            <a:ext cx="64008" cy="6400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4"/>
          <p:cNvSpPr/>
          <p:nvPr/>
        </p:nvSpPr>
        <p:spPr>
          <a:xfrm>
            <a:off x="6702552" y="1545336"/>
            <a:ext cx="64008" cy="6400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5"/>
          <p:cNvSpPr/>
          <p:nvPr/>
        </p:nvSpPr>
        <p:spPr>
          <a:xfrm>
            <a:off x="6464808" y="1728216"/>
            <a:ext cx="4992624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if / else if / else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(age &gt;= 18) {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Console.WriteLine("Adult");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else if (age &gt;= 13) {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Console.WriteLine("Teen");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else {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Console.WriteLine("Child");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6263640" y="352044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1B1F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17"/>
          <p:cNvSpPr/>
          <p:nvPr/>
        </p:nvSpPr>
        <p:spPr>
          <a:xfrm>
            <a:off x="6409944" y="3648456"/>
            <a:ext cx="64008" cy="6400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18"/>
          <p:cNvSpPr/>
          <p:nvPr/>
        </p:nvSpPr>
        <p:spPr>
          <a:xfrm>
            <a:off x="6556248" y="3648456"/>
            <a:ext cx="64008" cy="6400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19"/>
          <p:cNvSpPr/>
          <p:nvPr/>
        </p:nvSpPr>
        <p:spPr>
          <a:xfrm>
            <a:off x="6702552" y="3648456"/>
            <a:ext cx="64008" cy="6400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0"/>
          <p:cNvSpPr/>
          <p:nvPr/>
        </p:nvSpPr>
        <p:spPr>
          <a:xfrm>
            <a:off x="6464808" y="3831336"/>
            <a:ext cx="499262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switch statement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 (day) {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1: Console.WriteLine("Mon"); break;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2: Console.WriteLine("Tue"); break;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default: Console.WriteLine("Other"); break;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6263640" y="5029200"/>
            <a:ext cx="5394960" cy="1051560"/>
          </a:xfrm>
          <a:prstGeom prst="roundRect">
            <a:avLst>
              <a:gd name="adj" fmla="val 8696"/>
            </a:avLst>
          </a:prstGeom>
          <a:solidFill>
            <a:srgbClr val="EEF1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2"/>
          <p:cNvSpPr/>
          <p:nvPr/>
        </p:nvSpPr>
        <p:spPr>
          <a:xfrm>
            <a:off x="6492240" y="5029200"/>
            <a:ext cx="4937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Ternary example:  </a:t>
            </a:r>
            <a:r>
              <a:rPr lang="en-US" sz="1100" dirty="0">
                <a:solidFill>
                  <a:srgbClr val="4F6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result = (age &gt;= 18) ? "Adult" : "Minor";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Loops in C#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Repeating a block of code multiple times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49808" y="1600200"/>
            <a:ext cx="438912" cy="438912"/>
          </a:xfrm>
          <a:prstGeom prst="ellipse">
            <a:avLst/>
          </a:prstGeom>
          <a:solidFill>
            <a:srgbClr val="EEF1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925" y="1714317"/>
            <a:ext cx="210678" cy="21067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563624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325880" y="1911096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when you know exactly how many times to repeat.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49808" y="2468880"/>
            <a:ext cx="4855464" cy="777240"/>
          </a:xfrm>
          <a:prstGeom prst="roundRect">
            <a:avLst>
              <a:gd name="adj" fmla="val 7059"/>
            </a:avLst>
          </a:prstGeom>
          <a:solidFill>
            <a:srgbClr val="1B1F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868680" y="2532888"/>
            <a:ext cx="461772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 = 0; i &lt; 5; i++) {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Console.WriteLine(i);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126480" y="141732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6327648" y="1600200"/>
            <a:ext cx="438912" cy="438912"/>
          </a:xfrm>
          <a:prstGeom prst="ellipse">
            <a:avLst/>
          </a:prstGeom>
          <a:solidFill>
            <a:srgbClr val="EEF1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1765" y="1714317"/>
            <a:ext cx="210678" cy="21067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903720" y="1563624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6903720" y="1911096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the condition BEFORE each iteration; may run zero times.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327648" y="2468880"/>
            <a:ext cx="4855464" cy="777240"/>
          </a:xfrm>
          <a:prstGeom prst="roundRect">
            <a:avLst>
              <a:gd name="adj" fmla="val 7059"/>
            </a:avLst>
          </a:prstGeom>
          <a:solidFill>
            <a:srgbClr val="1B1F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3"/>
          <p:cNvSpPr/>
          <p:nvPr/>
        </p:nvSpPr>
        <p:spPr>
          <a:xfrm>
            <a:off x="6446520" y="2532888"/>
            <a:ext cx="461772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(count &lt; 5) {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count++;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548640" y="365760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5"/>
          <p:cNvSpPr/>
          <p:nvPr/>
        </p:nvSpPr>
        <p:spPr>
          <a:xfrm>
            <a:off x="749808" y="3840480"/>
            <a:ext cx="438912" cy="438912"/>
          </a:xfrm>
          <a:prstGeom prst="ellipse">
            <a:avLst/>
          </a:prstGeom>
          <a:solidFill>
            <a:srgbClr val="EEF1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925" y="3954597"/>
            <a:ext cx="210678" cy="21067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325880" y="3803904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do...while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1325880" y="4151376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the condition AFTER each iteration; always runs at least once.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749808" y="4709160"/>
            <a:ext cx="4855464" cy="777240"/>
          </a:xfrm>
          <a:prstGeom prst="roundRect">
            <a:avLst>
              <a:gd name="adj" fmla="val 7059"/>
            </a:avLst>
          </a:prstGeom>
          <a:solidFill>
            <a:srgbClr val="1B1F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19"/>
          <p:cNvSpPr/>
          <p:nvPr/>
        </p:nvSpPr>
        <p:spPr>
          <a:xfrm>
            <a:off x="868680" y="4773168"/>
            <a:ext cx="461772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 {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count++;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while (count &lt; 5);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6126480" y="365760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1"/>
          <p:cNvSpPr/>
          <p:nvPr/>
        </p:nvSpPr>
        <p:spPr>
          <a:xfrm>
            <a:off x="6327648" y="3840480"/>
            <a:ext cx="438912" cy="438912"/>
          </a:xfrm>
          <a:prstGeom prst="ellipse">
            <a:avLst/>
          </a:prstGeom>
          <a:solidFill>
            <a:srgbClr val="EEF1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1765" y="3954597"/>
            <a:ext cx="210678" cy="21067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903720" y="3803904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foreach</a:t>
            </a:r>
            <a:endParaRPr lang="en-US" sz="1500" dirty="0"/>
          </a:p>
        </p:txBody>
      </p:sp>
      <p:sp>
        <p:nvSpPr>
          <p:cNvPr id="29" name="Text 23"/>
          <p:cNvSpPr/>
          <p:nvPr/>
        </p:nvSpPr>
        <p:spPr>
          <a:xfrm>
            <a:off x="6903720" y="4151376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Iterates over every element in a collection or array.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6327648" y="4709160"/>
            <a:ext cx="4855464" cy="777240"/>
          </a:xfrm>
          <a:prstGeom prst="roundRect">
            <a:avLst>
              <a:gd name="adj" fmla="val 7059"/>
            </a:avLst>
          </a:prstGeom>
          <a:solidFill>
            <a:srgbClr val="1B1F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5"/>
          <p:cNvSpPr/>
          <p:nvPr/>
        </p:nvSpPr>
        <p:spPr>
          <a:xfrm>
            <a:off x="6446520" y="4773168"/>
            <a:ext cx="461772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foreach (var item in list) {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Console.WriteLine(item);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32" name="Shape 26"/>
          <p:cNvSpPr/>
          <p:nvPr/>
        </p:nvSpPr>
        <p:spPr>
          <a:xfrm>
            <a:off x="548640" y="5806440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27"/>
          <p:cNvSpPr/>
          <p:nvPr/>
        </p:nvSpPr>
        <p:spPr>
          <a:xfrm>
            <a:off x="914400" y="5806440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vs continue: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exits the loop entirely. continue skips the rest of the current iteration and moves to the next one.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Methods in C#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blocks of code that perform a specific task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94960" cy="1554480"/>
          </a:xfrm>
          <a:prstGeom prst="roundRect">
            <a:avLst>
              <a:gd name="adj" fmla="val 4706"/>
            </a:avLst>
          </a:prstGeom>
          <a:solidFill>
            <a:srgbClr val="1B1F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94944" y="1911096"/>
            <a:ext cx="64008" cy="6400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841248" y="1911096"/>
            <a:ext cx="64008" cy="6400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987552" y="1911096"/>
            <a:ext cx="64008" cy="6400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49808" y="2093976"/>
            <a:ext cx="499262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accessModifier returnType MethodName(parameters)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code to execute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value;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5204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886200"/>
            <a:ext cx="5394960" cy="1783080"/>
          </a:xfrm>
          <a:prstGeom prst="roundRect">
            <a:avLst>
              <a:gd name="adj" fmla="val 4103"/>
            </a:avLst>
          </a:prstGeom>
          <a:solidFill>
            <a:srgbClr val="1B1F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94944" y="4014216"/>
            <a:ext cx="64008" cy="6400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841248" y="4014216"/>
            <a:ext cx="64008" cy="6400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987552" y="4014216"/>
            <a:ext cx="64008" cy="6400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49808" y="4197096"/>
            <a:ext cx="4992624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int Add(int a, int b)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 + b;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result = Add(5, 3);   // result = 8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63640" y="1417320"/>
            <a:ext cx="411480" cy="411480"/>
          </a:xfrm>
          <a:prstGeom prst="ellipse">
            <a:avLst/>
          </a:prstGeom>
          <a:solidFill>
            <a:srgbClr val="EEF1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0625" y="1524305"/>
            <a:ext cx="197510" cy="19751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858000" y="139903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vs Arguments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858000" y="1719072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are placeholders in the method signature (a, b). Arguments are the actual values passed in (5, 3).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263640" y="2514600"/>
            <a:ext cx="411480" cy="411480"/>
          </a:xfrm>
          <a:prstGeom prst="ellipse">
            <a:avLst/>
          </a:prstGeom>
          <a:solidFill>
            <a:srgbClr val="EEF1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0625" y="2621585"/>
            <a:ext cx="197510" cy="19751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6858000" y="249631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void Methods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6858000" y="2816352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method that performs an action but returns nothing uses void as its return type.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6263640" y="3611880"/>
            <a:ext cx="411480" cy="411480"/>
          </a:xfrm>
          <a:prstGeom prst="ellipse">
            <a:avLst/>
          </a:prstGeom>
          <a:solidFill>
            <a:srgbClr val="EEF1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0625" y="3718865"/>
            <a:ext cx="197510" cy="19751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858000" y="359359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Overloading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6858000" y="3913632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methods can share the same name if their parameter lists differ (different type or count).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6263640" y="4709160"/>
            <a:ext cx="411480" cy="411480"/>
          </a:xfrm>
          <a:prstGeom prst="ellipse">
            <a:avLst/>
          </a:prstGeom>
          <a:solidFill>
            <a:srgbClr val="EEF1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0625" y="4816145"/>
            <a:ext cx="197510" cy="19751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858000" y="469087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vs Instance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6858000" y="5010912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methods belong to the class itself; instance methods require an object to be created first.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 Modifiers in C#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 that control who can see and use a class member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520440" cy="1234440"/>
          </a:xfrm>
          <a:prstGeom prst="roundRect">
            <a:avLst>
              <a:gd name="adj" fmla="val 7407"/>
            </a:avLst>
          </a:prstGeom>
          <a:solidFill>
            <a:srgbClr val="F5F7FC"/>
          </a:solidFill>
          <a:ln/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372" y="1654332"/>
            <a:ext cx="184343" cy="18434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499616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31520" y="1938528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from anywhere — any class, any assembly.</a:t>
            </a:r>
            <a:endParaRPr lang="en-US" sz="980" dirty="0"/>
          </a:p>
        </p:txBody>
      </p:sp>
      <p:sp>
        <p:nvSpPr>
          <p:cNvPr id="9" name="Shape 6"/>
          <p:cNvSpPr/>
          <p:nvPr/>
        </p:nvSpPr>
        <p:spPr>
          <a:xfrm>
            <a:off x="4389120" y="1371600"/>
            <a:ext cx="3520440" cy="1234440"/>
          </a:xfrm>
          <a:prstGeom prst="roundRect">
            <a:avLst>
              <a:gd name="adj" fmla="val 7407"/>
            </a:avLst>
          </a:prstGeom>
          <a:solidFill>
            <a:srgbClr val="F5F7FC"/>
          </a:solidFill>
          <a:ln/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4572000" y="1554480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1852" y="1654332"/>
            <a:ext cx="184343" cy="18434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74920" y="1499616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protected internal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572000" y="1938528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within the same assembly, OR from derived classes in any assembly.</a:t>
            </a:r>
            <a:endParaRPr lang="en-US" sz="980" dirty="0"/>
          </a:p>
        </p:txBody>
      </p:sp>
      <p:sp>
        <p:nvSpPr>
          <p:cNvPr id="14" name="Shape 10"/>
          <p:cNvSpPr/>
          <p:nvPr/>
        </p:nvSpPr>
        <p:spPr>
          <a:xfrm>
            <a:off x="8229600" y="1371600"/>
            <a:ext cx="3520440" cy="1234440"/>
          </a:xfrm>
          <a:prstGeom prst="roundRect">
            <a:avLst>
              <a:gd name="adj" fmla="val 7407"/>
            </a:avLst>
          </a:prstGeom>
          <a:solidFill>
            <a:srgbClr val="F5F7FC"/>
          </a:solidFill>
          <a:ln/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8412480" y="1554480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2332" y="1654332"/>
            <a:ext cx="184343" cy="18434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15400" y="1499616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internal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8412480" y="1938528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only within the same assembly (project).</a:t>
            </a:r>
            <a:endParaRPr lang="en-US" sz="980" dirty="0"/>
          </a:p>
        </p:txBody>
      </p:sp>
      <p:sp>
        <p:nvSpPr>
          <p:cNvPr id="19" name="Shape 14"/>
          <p:cNvSpPr/>
          <p:nvPr/>
        </p:nvSpPr>
        <p:spPr>
          <a:xfrm>
            <a:off x="548640" y="2807208"/>
            <a:ext cx="3520440" cy="1234440"/>
          </a:xfrm>
          <a:prstGeom prst="roundRect">
            <a:avLst>
              <a:gd name="adj" fmla="val 7407"/>
            </a:avLst>
          </a:prstGeom>
          <a:solidFill>
            <a:srgbClr val="F5F7FC"/>
          </a:solidFill>
          <a:ln/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731520" y="2990088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372" y="3089940"/>
            <a:ext cx="184343" cy="18434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34440" y="2935224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protected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731520" y="3374136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within the same class and any derived (child) class.</a:t>
            </a:r>
            <a:endParaRPr lang="en-US" sz="980" dirty="0"/>
          </a:p>
        </p:txBody>
      </p:sp>
      <p:sp>
        <p:nvSpPr>
          <p:cNvPr id="24" name="Shape 18"/>
          <p:cNvSpPr/>
          <p:nvPr/>
        </p:nvSpPr>
        <p:spPr>
          <a:xfrm>
            <a:off x="4389120" y="2807208"/>
            <a:ext cx="3520440" cy="1234440"/>
          </a:xfrm>
          <a:prstGeom prst="roundRect">
            <a:avLst>
              <a:gd name="adj" fmla="val 7407"/>
            </a:avLst>
          </a:prstGeom>
          <a:solidFill>
            <a:srgbClr val="F5F7FC"/>
          </a:solidFill>
          <a:ln/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19"/>
          <p:cNvSpPr/>
          <p:nvPr/>
        </p:nvSpPr>
        <p:spPr>
          <a:xfrm>
            <a:off x="4572000" y="2990088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71852" y="3089940"/>
            <a:ext cx="184343" cy="18434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074920" y="2935224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protected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4572000" y="3374136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within the same class, or derived classes — but only in the same assembly.</a:t>
            </a:r>
            <a:endParaRPr lang="en-US" sz="980" dirty="0"/>
          </a:p>
        </p:txBody>
      </p:sp>
      <p:sp>
        <p:nvSpPr>
          <p:cNvPr id="29" name="Shape 22"/>
          <p:cNvSpPr/>
          <p:nvPr/>
        </p:nvSpPr>
        <p:spPr>
          <a:xfrm>
            <a:off x="8229600" y="2807208"/>
            <a:ext cx="3520440" cy="1234440"/>
          </a:xfrm>
          <a:prstGeom prst="roundRect">
            <a:avLst>
              <a:gd name="adj" fmla="val 7407"/>
            </a:avLst>
          </a:prstGeom>
          <a:solidFill>
            <a:srgbClr val="F5F7FC"/>
          </a:solidFill>
          <a:ln/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3"/>
          <p:cNvSpPr/>
          <p:nvPr/>
        </p:nvSpPr>
        <p:spPr>
          <a:xfrm>
            <a:off x="8412480" y="2990088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2332" y="3089940"/>
            <a:ext cx="184343" cy="18434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15400" y="2935224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8412480" y="3374136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only within the same class. The default for class members.</a:t>
            </a:r>
            <a:endParaRPr lang="en-US" sz="980" dirty="0"/>
          </a:p>
        </p:txBody>
      </p:sp>
      <p:sp>
        <p:nvSpPr>
          <p:cNvPr id="34" name="Shape 26"/>
          <p:cNvSpPr/>
          <p:nvPr/>
        </p:nvSpPr>
        <p:spPr>
          <a:xfrm>
            <a:off x="548640" y="4114800"/>
            <a:ext cx="2148840" cy="4572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27"/>
          <p:cNvSpPr/>
          <p:nvPr/>
        </p:nvSpPr>
        <p:spPr>
          <a:xfrm>
            <a:off x="548640" y="41148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Modifier</a:t>
            </a:r>
            <a:endParaRPr lang="en-US" sz="900" dirty="0"/>
          </a:p>
        </p:txBody>
      </p:sp>
      <p:sp>
        <p:nvSpPr>
          <p:cNvPr id="36" name="Shape 28"/>
          <p:cNvSpPr/>
          <p:nvPr/>
        </p:nvSpPr>
        <p:spPr>
          <a:xfrm>
            <a:off x="2697480" y="4114800"/>
            <a:ext cx="1792224" cy="4572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29"/>
          <p:cNvSpPr/>
          <p:nvPr/>
        </p:nvSpPr>
        <p:spPr>
          <a:xfrm>
            <a:off x="2697480" y="4114800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900" dirty="0"/>
          </a:p>
        </p:txBody>
      </p:sp>
      <p:sp>
        <p:nvSpPr>
          <p:cNvPr id="38" name="Shape 30"/>
          <p:cNvSpPr/>
          <p:nvPr/>
        </p:nvSpPr>
        <p:spPr>
          <a:xfrm>
            <a:off x="4489704" y="4114800"/>
            <a:ext cx="1792224" cy="4572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1"/>
          <p:cNvSpPr/>
          <p:nvPr/>
        </p:nvSpPr>
        <p:spPr>
          <a:xfrm>
            <a:off x="4489704" y="4114800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(Same Asm)</a:t>
            </a:r>
            <a:endParaRPr lang="en-US" sz="900" dirty="0"/>
          </a:p>
        </p:txBody>
      </p:sp>
      <p:sp>
        <p:nvSpPr>
          <p:cNvPr id="40" name="Shape 32"/>
          <p:cNvSpPr/>
          <p:nvPr/>
        </p:nvSpPr>
        <p:spPr>
          <a:xfrm>
            <a:off x="6281928" y="4114800"/>
            <a:ext cx="1792224" cy="4572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3"/>
          <p:cNvSpPr/>
          <p:nvPr/>
        </p:nvSpPr>
        <p:spPr>
          <a:xfrm>
            <a:off x="6281928" y="4114800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Non-Derived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(Same Asm)</a:t>
            </a:r>
            <a:endParaRPr lang="en-US" sz="900" dirty="0"/>
          </a:p>
        </p:txBody>
      </p:sp>
      <p:sp>
        <p:nvSpPr>
          <p:cNvPr id="42" name="Shape 34"/>
          <p:cNvSpPr/>
          <p:nvPr/>
        </p:nvSpPr>
        <p:spPr>
          <a:xfrm>
            <a:off x="8074152" y="4114800"/>
            <a:ext cx="1792224" cy="4572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35"/>
          <p:cNvSpPr/>
          <p:nvPr/>
        </p:nvSpPr>
        <p:spPr>
          <a:xfrm>
            <a:off x="8074152" y="4114800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(Other Asm)</a:t>
            </a:r>
            <a:endParaRPr lang="en-US" sz="900" dirty="0"/>
          </a:p>
        </p:txBody>
      </p:sp>
      <p:sp>
        <p:nvSpPr>
          <p:cNvPr id="44" name="Shape 36"/>
          <p:cNvSpPr/>
          <p:nvPr/>
        </p:nvSpPr>
        <p:spPr>
          <a:xfrm>
            <a:off x="9866376" y="4114800"/>
            <a:ext cx="1773936" cy="4572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37"/>
          <p:cNvSpPr/>
          <p:nvPr/>
        </p:nvSpPr>
        <p:spPr>
          <a:xfrm>
            <a:off x="9866376" y="4114800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Non-Derived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(Other Asm)</a:t>
            </a:r>
            <a:endParaRPr lang="en-US" sz="900" dirty="0"/>
          </a:p>
        </p:txBody>
      </p:sp>
      <p:sp>
        <p:nvSpPr>
          <p:cNvPr id="46" name="Shape 38"/>
          <p:cNvSpPr/>
          <p:nvPr/>
        </p:nvSpPr>
        <p:spPr>
          <a:xfrm>
            <a:off x="548640" y="4572000"/>
            <a:ext cx="214884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39"/>
          <p:cNvSpPr/>
          <p:nvPr/>
        </p:nvSpPr>
        <p:spPr>
          <a:xfrm>
            <a:off x="548640" y="4572000"/>
            <a:ext cx="2148840" cy="310896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endParaRPr lang="en-US" sz="1000" dirty="0"/>
          </a:p>
        </p:txBody>
      </p:sp>
      <p:sp>
        <p:nvSpPr>
          <p:cNvPr id="48" name="Shape 40"/>
          <p:cNvSpPr/>
          <p:nvPr/>
        </p:nvSpPr>
        <p:spPr>
          <a:xfrm>
            <a:off x="2697480" y="4572000"/>
            <a:ext cx="1792224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1"/>
          <p:cNvSpPr/>
          <p:nvPr/>
        </p:nvSpPr>
        <p:spPr>
          <a:xfrm>
            <a:off x="2697480" y="4572000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0" name="Shape 42"/>
          <p:cNvSpPr/>
          <p:nvPr/>
        </p:nvSpPr>
        <p:spPr>
          <a:xfrm>
            <a:off x="4489704" y="4572000"/>
            <a:ext cx="1792224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Text 43"/>
          <p:cNvSpPr/>
          <p:nvPr/>
        </p:nvSpPr>
        <p:spPr>
          <a:xfrm>
            <a:off x="4489704" y="4572000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2" name="Shape 44"/>
          <p:cNvSpPr/>
          <p:nvPr/>
        </p:nvSpPr>
        <p:spPr>
          <a:xfrm>
            <a:off x="6281928" y="4572000"/>
            <a:ext cx="1792224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Text 45"/>
          <p:cNvSpPr/>
          <p:nvPr/>
        </p:nvSpPr>
        <p:spPr>
          <a:xfrm>
            <a:off x="6281928" y="4572000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4" name="Shape 46"/>
          <p:cNvSpPr/>
          <p:nvPr/>
        </p:nvSpPr>
        <p:spPr>
          <a:xfrm>
            <a:off x="8074152" y="4572000"/>
            <a:ext cx="1792224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Text 47"/>
          <p:cNvSpPr/>
          <p:nvPr/>
        </p:nvSpPr>
        <p:spPr>
          <a:xfrm>
            <a:off x="8074152" y="4572000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6" name="Shape 48"/>
          <p:cNvSpPr/>
          <p:nvPr/>
        </p:nvSpPr>
        <p:spPr>
          <a:xfrm>
            <a:off x="9866376" y="4572000"/>
            <a:ext cx="1773936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Text 49"/>
          <p:cNvSpPr/>
          <p:nvPr/>
        </p:nvSpPr>
        <p:spPr>
          <a:xfrm>
            <a:off x="9866376" y="4572000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8" name="Shape 50"/>
          <p:cNvSpPr/>
          <p:nvPr/>
        </p:nvSpPr>
        <p:spPr>
          <a:xfrm>
            <a:off x="548640" y="4882896"/>
            <a:ext cx="2148840" cy="310896"/>
          </a:xfrm>
          <a:prstGeom prst="rect">
            <a:avLst/>
          </a:prstGeom>
          <a:solidFill>
            <a:srgbClr val="F5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9" name="Text 51"/>
          <p:cNvSpPr/>
          <p:nvPr/>
        </p:nvSpPr>
        <p:spPr>
          <a:xfrm>
            <a:off x="548640" y="4882896"/>
            <a:ext cx="2148840" cy="310896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protected internal</a:t>
            </a:r>
            <a:endParaRPr lang="en-US" sz="1000" dirty="0"/>
          </a:p>
        </p:txBody>
      </p:sp>
      <p:sp>
        <p:nvSpPr>
          <p:cNvPr id="60" name="Shape 52"/>
          <p:cNvSpPr/>
          <p:nvPr/>
        </p:nvSpPr>
        <p:spPr>
          <a:xfrm>
            <a:off x="2697480" y="4882896"/>
            <a:ext cx="1792224" cy="310896"/>
          </a:xfrm>
          <a:prstGeom prst="rect">
            <a:avLst/>
          </a:prstGeom>
          <a:solidFill>
            <a:srgbClr val="F5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3"/>
          <p:cNvSpPr/>
          <p:nvPr/>
        </p:nvSpPr>
        <p:spPr>
          <a:xfrm>
            <a:off x="2697480" y="4882896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62" name="Shape 54"/>
          <p:cNvSpPr/>
          <p:nvPr/>
        </p:nvSpPr>
        <p:spPr>
          <a:xfrm>
            <a:off x="4489704" y="4882896"/>
            <a:ext cx="1792224" cy="310896"/>
          </a:xfrm>
          <a:prstGeom prst="rect">
            <a:avLst/>
          </a:prstGeom>
          <a:solidFill>
            <a:srgbClr val="F5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3" name="Text 55"/>
          <p:cNvSpPr/>
          <p:nvPr/>
        </p:nvSpPr>
        <p:spPr>
          <a:xfrm>
            <a:off x="4489704" y="4882896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64" name="Shape 56"/>
          <p:cNvSpPr/>
          <p:nvPr/>
        </p:nvSpPr>
        <p:spPr>
          <a:xfrm>
            <a:off x="6281928" y="4882896"/>
            <a:ext cx="1792224" cy="310896"/>
          </a:xfrm>
          <a:prstGeom prst="rect">
            <a:avLst/>
          </a:prstGeom>
          <a:solidFill>
            <a:srgbClr val="F5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5" name="Text 57"/>
          <p:cNvSpPr/>
          <p:nvPr/>
        </p:nvSpPr>
        <p:spPr>
          <a:xfrm>
            <a:off x="6281928" y="4882896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66" name="Shape 58"/>
          <p:cNvSpPr/>
          <p:nvPr/>
        </p:nvSpPr>
        <p:spPr>
          <a:xfrm>
            <a:off x="8074152" y="4882896"/>
            <a:ext cx="1792224" cy="310896"/>
          </a:xfrm>
          <a:prstGeom prst="rect">
            <a:avLst/>
          </a:prstGeom>
          <a:solidFill>
            <a:srgbClr val="F5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7" name="Text 59"/>
          <p:cNvSpPr/>
          <p:nvPr/>
        </p:nvSpPr>
        <p:spPr>
          <a:xfrm>
            <a:off x="8074152" y="4882896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68" name="Shape 60"/>
          <p:cNvSpPr/>
          <p:nvPr/>
        </p:nvSpPr>
        <p:spPr>
          <a:xfrm>
            <a:off x="9866376" y="4882896"/>
            <a:ext cx="1773936" cy="310896"/>
          </a:xfrm>
          <a:prstGeom prst="rect">
            <a:avLst/>
          </a:prstGeom>
          <a:solidFill>
            <a:srgbClr val="F5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9" name="Text 61"/>
          <p:cNvSpPr/>
          <p:nvPr/>
        </p:nvSpPr>
        <p:spPr>
          <a:xfrm>
            <a:off x="9866376" y="4882896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70" name="Shape 62"/>
          <p:cNvSpPr/>
          <p:nvPr/>
        </p:nvSpPr>
        <p:spPr>
          <a:xfrm>
            <a:off x="548640" y="5193792"/>
            <a:ext cx="214884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1" name="Text 63"/>
          <p:cNvSpPr/>
          <p:nvPr/>
        </p:nvSpPr>
        <p:spPr>
          <a:xfrm>
            <a:off x="548640" y="51937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internal</a:t>
            </a:r>
            <a:endParaRPr lang="en-US" sz="1000" dirty="0"/>
          </a:p>
        </p:txBody>
      </p:sp>
      <p:sp>
        <p:nvSpPr>
          <p:cNvPr id="72" name="Shape 64"/>
          <p:cNvSpPr/>
          <p:nvPr/>
        </p:nvSpPr>
        <p:spPr>
          <a:xfrm>
            <a:off x="2697480" y="5193792"/>
            <a:ext cx="1792224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3" name="Text 65"/>
          <p:cNvSpPr/>
          <p:nvPr/>
        </p:nvSpPr>
        <p:spPr>
          <a:xfrm>
            <a:off x="2697480" y="5193792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74" name="Shape 66"/>
          <p:cNvSpPr/>
          <p:nvPr/>
        </p:nvSpPr>
        <p:spPr>
          <a:xfrm>
            <a:off x="4489704" y="5193792"/>
            <a:ext cx="1792224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5" name="Text 67"/>
          <p:cNvSpPr/>
          <p:nvPr/>
        </p:nvSpPr>
        <p:spPr>
          <a:xfrm>
            <a:off x="4489704" y="5193792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76" name="Shape 68"/>
          <p:cNvSpPr/>
          <p:nvPr/>
        </p:nvSpPr>
        <p:spPr>
          <a:xfrm>
            <a:off x="6281928" y="5193792"/>
            <a:ext cx="1792224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7" name="Text 69"/>
          <p:cNvSpPr/>
          <p:nvPr/>
        </p:nvSpPr>
        <p:spPr>
          <a:xfrm>
            <a:off x="6281928" y="5193792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78" name="Shape 70"/>
          <p:cNvSpPr/>
          <p:nvPr/>
        </p:nvSpPr>
        <p:spPr>
          <a:xfrm>
            <a:off x="8074152" y="5193792"/>
            <a:ext cx="1792224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9" name="Text 71"/>
          <p:cNvSpPr/>
          <p:nvPr/>
        </p:nvSpPr>
        <p:spPr>
          <a:xfrm>
            <a:off x="8074152" y="5193792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80" name="Shape 72"/>
          <p:cNvSpPr/>
          <p:nvPr/>
        </p:nvSpPr>
        <p:spPr>
          <a:xfrm>
            <a:off x="9866376" y="5193792"/>
            <a:ext cx="1773936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1" name="Text 73"/>
          <p:cNvSpPr/>
          <p:nvPr/>
        </p:nvSpPr>
        <p:spPr>
          <a:xfrm>
            <a:off x="9866376" y="5193792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82" name="Shape 74"/>
          <p:cNvSpPr/>
          <p:nvPr/>
        </p:nvSpPr>
        <p:spPr>
          <a:xfrm>
            <a:off x="548640" y="5504688"/>
            <a:ext cx="2148840" cy="310896"/>
          </a:xfrm>
          <a:prstGeom prst="rect">
            <a:avLst/>
          </a:prstGeom>
          <a:solidFill>
            <a:srgbClr val="F5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3" name="Text 75"/>
          <p:cNvSpPr/>
          <p:nvPr/>
        </p:nvSpPr>
        <p:spPr>
          <a:xfrm>
            <a:off x="548640" y="5504688"/>
            <a:ext cx="2148840" cy="310896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protected</a:t>
            </a:r>
            <a:endParaRPr lang="en-US" sz="1000" dirty="0"/>
          </a:p>
        </p:txBody>
      </p:sp>
      <p:sp>
        <p:nvSpPr>
          <p:cNvPr id="84" name="Shape 76"/>
          <p:cNvSpPr/>
          <p:nvPr/>
        </p:nvSpPr>
        <p:spPr>
          <a:xfrm>
            <a:off x="2697480" y="5504688"/>
            <a:ext cx="1792224" cy="310896"/>
          </a:xfrm>
          <a:prstGeom prst="rect">
            <a:avLst/>
          </a:prstGeom>
          <a:solidFill>
            <a:srgbClr val="F5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5" name="Text 77"/>
          <p:cNvSpPr/>
          <p:nvPr/>
        </p:nvSpPr>
        <p:spPr>
          <a:xfrm>
            <a:off x="2697480" y="5504688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86" name="Shape 78"/>
          <p:cNvSpPr/>
          <p:nvPr/>
        </p:nvSpPr>
        <p:spPr>
          <a:xfrm>
            <a:off x="4489704" y="5504688"/>
            <a:ext cx="1792224" cy="310896"/>
          </a:xfrm>
          <a:prstGeom prst="rect">
            <a:avLst/>
          </a:prstGeom>
          <a:solidFill>
            <a:srgbClr val="F5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7" name="Text 79"/>
          <p:cNvSpPr/>
          <p:nvPr/>
        </p:nvSpPr>
        <p:spPr>
          <a:xfrm>
            <a:off x="4489704" y="5504688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88" name="Shape 80"/>
          <p:cNvSpPr/>
          <p:nvPr/>
        </p:nvSpPr>
        <p:spPr>
          <a:xfrm>
            <a:off x="6281928" y="5504688"/>
            <a:ext cx="1792224" cy="310896"/>
          </a:xfrm>
          <a:prstGeom prst="rect">
            <a:avLst/>
          </a:prstGeom>
          <a:solidFill>
            <a:srgbClr val="F5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9" name="Text 81"/>
          <p:cNvSpPr/>
          <p:nvPr/>
        </p:nvSpPr>
        <p:spPr>
          <a:xfrm>
            <a:off x="6281928" y="5504688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90" name="Shape 82"/>
          <p:cNvSpPr/>
          <p:nvPr/>
        </p:nvSpPr>
        <p:spPr>
          <a:xfrm>
            <a:off x="8074152" y="5504688"/>
            <a:ext cx="1792224" cy="310896"/>
          </a:xfrm>
          <a:prstGeom prst="rect">
            <a:avLst/>
          </a:prstGeom>
          <a:solidFill>
            <a:srgbClr val="F5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Text 83"/>
          <p:cNvSpPr/>
          <p:nvPr/>
        </p:nvSpPr>
        <p:spPr>
          <a:xfrm>
            <a:off x="8074152" y="5504688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92" name="Shape 84"/>
          <p:cNvSpPr/>
          <p:nvPr/>
        </p:nvSpPr>
        <p:spPr>
          <a:xfrm>
            <a:off x="9866376" y="5504688"/>
            <a:ext cx="1773936" cy="310896"/>
          </a:xfrm>
          <a:prstGeom prst="rect">
            <a:avLst/>
          </a:prstGeom>
          <a:solidFill>
            <a:srgbClr val="F5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3" name="Text 85"/>
          <p:cNvSpPr/>
          <p:nvPr/>
        </p:nvSpPr>
        <p:spPr>
          <a:xfrm>
            <a:off x="9866376" y="5504688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94" name="Shape 86"/>
          <p:cNvSpPr/>
          <p:nvPr/>
        </p:nvSpPr>
        <p:spPr>
          <a:xfrm>
            <a:off x="548640" y="5815584"/>
            <a:ext cx="214884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5" name="Text 87"/>
          <p:cNvSpPr/>
          <p:nvPr/>
        </p:nvSpPr>
        <p:spPr>
          <a:xfrm>
            <a:off x="548640" y="5815584"/>
            <a:ext cx="2148840" cy="310896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protected</a:t>
            </a:r>
            <a:endParaRPr lang="en-US" sz="1000" dirty="0"/>
          </a:p>
        </p:txBody>
      </p:sp>
      <p:sp>
        <p:nvSpPr>
          <p:cNvPr id="96" name="Shape 88"/>
          <p:cNvSpPr/>
          <p:nvPr/>
        </p:nvSpPr>
        <p:spPr>
          <a:xfrm>
            <a:off x="2697480" y="5815584"/>
            <a:ext cx="1792224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7" name="Text 89"/>
          <p:cNvSpPr/>
          <p:nvPr/>
        </p:nvSpPr>
        <p:spPr>
          <a:xfrm>
            <a:off x="2697480" y="5815584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98" name="Shape 90"/>
          <p:cNvSpPr/>
          <p:nvPr/>
        </p:nvSpPr>
        <p:spPr>
          <a:xfrm>
            <a:off x="4489704" y="5815584"/>
            <a:ext cx="1792224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9" name="Text 91"/>
          <p:cNvSpPr/>
          <p:nvPr/>
        </p:nvSpPr>
        <p:spPr>
          <a:xfrm>
            <a:off x="4489704" y="5815584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00" name="Shape 92"/>
          <p:cNvSpPr/>
          <p:nvPr/>
        </p:nvSpPr>
        <p:spPr>
          <a:xfrm>
            <a:off x="6281928" y="5815584"/>
            <a:ext cx="1792224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1" name="Text 93"/>
          <p:cNvSpPr/>
          <p:nvPr/>
        </p:nvSpPr>
        <p:spPr>
          <a:xfrm>
            <a:off x="6281928" y="5815584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102" name="Shape 94"/>
          <p:cNvSpPr/>
          <p:nvPr/>
        </p:nvSpPr>
        <p:spPr>
          <a:xfrm>
            <a:off x="8074152" y="5815584"/>
            <a:ext cx="1792224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3" name="Text 95"/>
          <p:cNvSpPr/>
          <p:nvPr/>
        </p:nvSpPr>
        <p:spPr>
          <a:xfrm>
            <a:off x="8074152" y="5815584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104" name="Shape 96"/>
          <p:cNvSpPr/>
          <p:nvPr/>
        </p:nvSpPr>
        <p:spPr>
          <a:xfrm>
            <a:off x="9866376" y="5815584"/>
            <a:ext cx="1773936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5" name="Text 97"/>
          <p:cNvSpPr/>
          <p:nvPr/>
        </p:nvSpPr>
        <p:spPr>
          <a:xfrm>
            <a:off x="9866376" y="5815584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106" name="Shape 98"/>
          <p:cNvSpPr/>
          <p:nvPr/>
        </p:nvSpPr>
        <p:spPr>
          <a:xfrm>
            <a:off x="548640" y="6126480"/>
            <a:ext cx="2148840" cy="310896"/>
          </a:xfrm>
          <a:prstGeom prst="rect">
            <a:avLst/>
          </a:prstGeom>
          <a:solidFill>
            <a:srgbClr val="F5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7" name="Text 99"/>
          <p:cNvSpPr/>
          <p:nvPr/>
        </p:nvSpPr>
        <p:spPr>
          <a:xfrm>
            <a:off x="548640" y="6126480"/>
            <a:ext cx="2148840" cy="310896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endParaRPr lang="en-US" sz="1000" dirty="0"/>
          </a:p>
        </p:txBody>
      </p:sp>
      <p:sp>
        <p:nvSpPr>
          <p:cNvPr id="108" name="Shape 100"/>
          <p:cNvSpPr/>
          <p:nvPr/>
        </p:nvSpPr>
        <p:spPr>
          <a:xfrm>
            <a:off x="2697480" y="6126480"/>
            <a:ext cx="1792224" cy="310896"/>
          </a:xfrm>
          <a:prstGeom prst="rect">
            <a:avLst/>
          </a:prstGeom>
          <a:solidFill>
            <a:srgbClr val="F5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9" name="Text 101"/>
          <p:cNvSpPr/>
          <p:nvPr/>
        </p:nvSpPr>
        <p:spPr>
          <a:xfrm>
            <a:off x="2697480" y="6126480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10" name="Shape 102"/>
          <p:cNvSpPr/>
          <p:nvPr/>
        </p:nvSpPr>
        <p:spPr>
          <a:xfrm>
            <a:off x="4489704" y="6126480"/>
            <a:ext cx="1792224" cy="310896"/>
          </a:xfrm>
          <a:prstGeom prst="rect">
            <a:avLst/>
          </a:prstGeom>
          <a:solidFill>
            <a:srgbClr val="F5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1" name="Text 103"/>
          <p:cNvSpPr/>
          <p:nvPr/>
        </p:nvSpPr>
        <p:spPr>
          <a:xfrm>
            <a:off x="4489704" y="6126480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112" name="Shape 104"/>
          <p:cNvSpPr/>
          <p:nvPr/>
        </p:nvSpPr>
        <p:spPr>
          <a:xfrm>
            <a:off x="6281928" y="6126480"/>
            <a:ext cx="1792224" cy="310896"/>
          </a:xfrm>
          <a:prstGeom prst="rect">
            <a:avLst/>
          </a:prstGeom>
          <a:solidFill>
            <a:srgbClr val="F5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3" name="Text 105"/>
          <p:cNvSpPr/>
          <p:nvPr/>
        </p:nvSpPr>
        <p:spPr>
          <a:xfrm>
            <a:off x="6281928" y="6126480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114" name="Shape 106"/>
          <p:cNvSpPr/>
          <p:nvPr/>
        </p:nvSpPr>
        <p:spPr>
          <a:xfrm>
            <a:off x="8074152" y="6126480"/>
            <a:ext cx="1792224" cy="310896"/>
          </a:xfrm>
          <a:prstGeom prst="rect">
            <a:avLst/>
          </a:prstGeom>
          <a:solidFill>
            <a:srgbClr val="F5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5" name="Text 107"/>
          <p:cNvSpPr/>
          <p:nvPr/>
        </p:nvSpPr>
        <p:spPr>
          <a:xfrm>
            <a:off x="8074152" y="6126480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116" name="Shape 108"/>
          <p:cNvSpPr/>
          <p:nvPr/>
        </p:nvSpPr>
        <p:spPr>
          <a:xfrm>
            <a:off x="9866376" y="6126480"/>
            <a:ext cx="1773936" cy="310896"/>
          </a:xfrm>
          <a:prstGeom prst="rect">
            <a:avLst/>
          </a:prstGeom>
          <a:solidFill>
            <a:srgbClr val="F5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7" name="Text 109"/>
          <p:cNvSpPr/>
          <p:nvPr/>
        </p:nvSpPr>
        <p:spPr>
          <a:xfrm>
            <a:off x="9866376" y="6126480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Namespace vs Class vs Method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different levels of organization in a C# program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577840" cy="3154680"/>
          </a:xfrm>
          <a:prstGeom prst="roundRect">
            <a:avLst>
              <a:gd name="adj" fmla="val 2899"/>
            </a:avLst>
          </a:prstGeom>
          <a:solidFill>
            <a:srgbClr val="DCE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618" y="1695298"/>
            <a:ext cx="175565" cy="1755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61848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namespace MyApp.Services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68680" y="2194560"/>
            <a:ext cx="4937760" cy="2103120"/>
          </a:xfrm>
          <a:prstGeom prst="roundRect">
            <a:avLst>
              <a:gd name="adj" fmla="val 4348"/>
            </a:avLst>
          </a:prstGeom>
          <a:solidFill>
            <a:srgbClr val="AEC0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1051560" y="2377440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1903" y="2467783"/>
            <a:ext cx="166787" cy="16678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27048" y="2386584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Customer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1143000" y="2880360"/>
            <a:ext cx="4389120" cy="1188720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9"/>
          <p:cNvSpPr/>
          <p:nvPr/>
        </p:nvSpPr>
        <p:spPr>
          <a:xfrm>
            <a:off x="1325880" y="3044952"/>
            <a:ext cx="329184" cy="329184"/>
          </a:xfrm>
          <a:prstGeom prst="ellipse">
            <a:avLst/>
          </a:prstGeom>
          <a:solidFill>
            <a:srgbClr val="2A347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1468" y="3130540"/>
            <a:ext cx="158008" cy="1580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783080" y="3054096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SaveCustomer()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1417320" y="34747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/* logic that runs */ }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6446520" y="1417320"/>
            <a:ext cx="914400" cy="457200"/>
          </a:xfrm>
          <a:prstGeom prst="rect">
            <a:avLst/>
          </a:prstGeom>
          <a:solidFill>
            <a:srgbClr val="1E2761"/>
          </a:solidFill>
          <a:ln w="6350">
            <a:solidFill>
              <a:srgbClr val="E4E8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3"/>
          <p:cNvSpPr/>
          <p:nvPr/>
        </p:nvSpPr>
        <p:spPr>
          <a:xfrm>
            <a:off x="6501384" y="1417320"/>
            <a:ext cx="804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7360920" y="1417320"/>
            <a:ext cx="1426464" cy="457200"/>
          </a:xfrm>
          <a:prstGeom prst="rect">
            <a:avLst/>
          </a:prstGeom>
          <a:solidFill>
            <a:srgbClr val="1E2761"/>
          </a:solidFill>
          <a:ln w="6350">
            <a:solidFill>
              <a:srgbClr val="E4E8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5"/>
          <p:cNvSpPr/>
          <p:nvPr/>
        </p:nvSpPr>
        <p:spPr>
          <a:xfrm>
            <a:off x="7415784" y="1417320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8787384" y="1417320"/>
            <a:ext cx="1426464" cy="457200"/>
          </a:xfrm>
          <a:prstGeom prst="rect">
            <a:avLst/>
          </a:prstGeom>
          <a:solidFill>
            <a:srgbClr val="1E2761"/>
          </a:solidFill>
          <a:ln w="6350">
            <a:solidFill>
              <a:srgbClr val="E4E8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7"/>
          <p:cNvSpPr/>
          <p:nvPr/>
        </p:nvSpPr>
        <p:spPr>
          <a:xfrm>
            <a:off x="8842248" y="1417320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10213848" y="1417320"/>
            <a:ext cx="1426464" cy="457200"/>
          </a:xfrm>
          <a:prstGeom prst="rect">
            <a:avLst/>
          </a:prstGeom>
          <a:solidFill>
            <a:srgbClr val="1E2761"/>
          </a:solidFill>
          <a:ln w="6350">
            <a:solidFill>
              <a:srgbClr val="E4E8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19"/>
          <p:cNvSpPr/>
          <p:nvPr/>
        </p:nvSpPr>
        <p:spPr>
          <a:xfrm>
            <a:off x="10268712" y="1417320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6446520" y="1874520"/>
            <a:ext cx="914400" cy="777240"/>
          </a:xfrm>
          <a:prstGeom prst="rect">
            <a:avLst/>
          </a:prstGeom>
          <a:solidFill>
            <a:srgbClr val="EEF1FC"/>
          </a:solidFill>
          <a:ln w="6350">
            <a:solidFill>
              <a:srgbClr val="E4E8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1"/>
          <p:cNvSpPr/>
          <p:nvPr/>
        </p:nvSpPr>
        <p:spPr>
          <a:xfrm>
            <a:off x="6501384" y="1874520"/>
            <a:ext cx="804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7360920" y="1874520"/>
            <a:ext cx="1426464" cy="777240"/>
          </a:xfrm>
          <a:prstGeom prst="rect">
            <a:avLst/>
          </a:prstGeom>
          <a:solidFill>
            <a:srgbClr val="F5F7FC"/>
          </a:solidFill>
          <a:ln w="6350">
            <a:solidFill>
              <a:srgbClr val="E4E8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3"/>
          <p:cNvSpPr/>
          <p:nvPr/>
        </p:nvSpPr>
        <p:spPr>
          <a:xfrm>
            <a:off x="7415784" y="1874520"/>
            <a:ext cx="13167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7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Organizes related classes; avoids naming clashes</a:t>
            </a:r>
            <a:endParaRPr lang="en-US" sz="870" dirty="0"/>
          </a:p>
        </p:txBody>
      </p:sp>
      <p:sp>
        <p:nvSpPr>
          <p:cNvPr id="29" name="Shape 24"/>
          <p:cNvSpPr/>
          <p:nvPr/>
        </p:nvSpPr>
        <p:spPr>
          <a:xfrm>
            <a:off x="8787384" y="1874520"/>
            <a:ext cx="1426464" cy="777240"/>
          </a:xfrm>
          <a:prstGeom prst="rect">
            <a:avLst/>
          </a:prstGeom>
          <a:solidFill>
            <a:srgbClr val="F5F7FC"/>
          </a:solidFill>
          <a:ln w="6350">
            <a:solidFill>
              <a:srgbClr val="E4E8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5"/>
          <p:cNvSpPr/>
          <p:nvPr/>
        </p:nvSpPr>
        <p:spPr>
          <a:xfrm>
            <a:off x="8842248" y="1874520"/>
            <a:ext cx="13167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7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 defining data + behavior</a:t>
            </a:r>
            <a:endParaRPr lang="en-US" sz="870" dirty="0"/>
          </a:p>
        </p:txBody>
      </p:sp>
      <p:sp>
        <p:nvSpPr>
          <p:cNvPr id="31" name="Shape 26"/>
          <p:cNvSpPr/>
          <p:nvPr/>
        </p:nvSpPr>
        <p:spPr>
          <a:xfrm>
            <a:off x="10213848" y="1874520"/>
            <a:ext cx="1426464" cy="777240"/>
          </a:xfrm>
          <a:prstGeom prst="rect">
            <a:avLst/>
          </a:prstGeom>
          <a:solidFill>
            <a:srgbClr val="F5F7FC"/>
          </a:solidFill>
          <a:ln w="6350">
            <a:solidFill>
              <a:srgbClr val="E4E8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27"/>
          <p:cNvSpPr/>
          <p:nvPr/>
        </p:nvSpPr>
        <p:spPr>
          <a:xfrm>
            <a:off x="10268712" y="1874520"/>
            <a:ext cx="13167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7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specific action or piece of logic</a:t>
            </a:r>
            <a:endParaRPr lang="en-US" sz="870" dirty="0"/>
          </a:p>
        </p:txBody>
      </p:sp>
      <p:sp>
        <p:nvSpPr>
          <p:cNvPr id="33" name="Shape 28"/>
          <p:cNvSpPr/>
          <p:nvPr/>
        </p:nvSpPr>
        <p:spPr>
          <a:xfrm>
            <a:off x="6446520" y="2651760"/>
            <a:ext cx="914400" cy="777240"/>
          </a:xfrm>
          <a:prstGeom prst="rect">
            <a:avLst/>
          </a:prstGeom>
          <a:solidFill>
            <a:srgbClr val="EEF1FC"/>
          </a:solidFill>
          <a:ln w="6350">
            <a:solidFill>
              <a:srgbClr val="E4E8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29"/>
          <p:cNvSpPr/>
          <p:nvPr/>
        </p:nvSpPr>
        <p:spPr>
          <a:xfrm>
            <a:off x="6501384" y="2651760"/>
            <a:ext cx="804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</a:t>
            </a:r>
            <a:endParaRPr lang="en-US" sz="950" dirty="0"/>
          </a:p>
        </p:txBody>
      </p:sp>
      <p:sp>
        <p:nvSpPr>
          <p:cNvPr id="35" name="Shape 30"/>
          <p:cNvSpPr/>
          <p:nvPr/>
        </p:nvSpPr>
        <p:spPr>
          <a:xfrm>
            <a:off x="7360920" y="2651760"/>
            <a:ext cx="1426464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4E8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1"/>
          <p:cNvSpPr/>
          <p:nvPr/>
        </p:nvSpPr>
        <p:spPr>
          <a:xfrm>
            <a:off x="7415784" y="2651760"/>
            <a:ext cx="13167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7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Classes, interfaces, other namespaces</a:t>
            </a:r>
            <a:endParaRPr lang="en-US" sz="870" dirty="0"/>
          </a:p>
        </p:txBody>
      </p:sp>
      <p:sp>
        <p:nvSpPr>
          <p:cNvPr id="37" name="Shape 32"/>
          <p:cNvSpPr/>
          <p:nvPr/>
        </p:nvSpPr>
        <p:spPr>
          <a:xfrm>
            <a:off x="8787384" y="2651760"/>
            <a:ext cx="1426464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4E8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3"/>
          <p:cNvSpPr/>
          <p:nvPr/>
        </p:nvSpPr>
        <p:spPr>
          <a:xfrm>
            <a:off x="8842248" y="2651760"/>
            <a:ext cx="13167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7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Fields, properties, methods, constructors</a:t>
            </a:r>
            <a:endParaRPr lang="en-US" sz="870" dirty="0"/>
          </a:p>
        </p:txBody>
      </p:sp>
      <p:sp>
        <p:nvSpPr>
          <p:cNvPr id="39" name="Shape 34"/>
          <p:cNvSpPr/>
          <p:nvPr/>
        </p:nvSpPr>
        <p:spPr>
          <a:xfrm>
            <a:off x="10213848" y="2651760"/>
            <a:ext cx="1426464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4E8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5"/>
          <p:cNvSpPr/>
          <p:nvPr/>
        </p:nvSpPr>
        <p:spPr>
          <a:xfrm>
            <a:off x="10268712" y="2651760"/>
            <a:ext cx="13167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7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Statements, parameters, return value</a:t>
            </a:r>
            <a:endParaRPr lang="en-US" sz="870" dirty="0"/>
          </a:p>
        </p:txBody>
      </p:sp>
      <p:sp>
        <p:nvSpPr>
          <p:cNvPr id="41" name="Shape 36"/>
          <p:cNvSpPr/>
          <p:nvPr/>
        </p:nvSpPr>
        <p:spPr>
          <a:xfrm>
            <a:off x="6446520" y="3429000"/>
            <a:ext cx="914400" cy="457200"/>
          </a:xfrm>
          <a:prstGeom prst="rect">
            <a:avLst/>
          </a:prstGeom>
          <a:solidFill>
            <a:srgbClr val="EEF1FC"/>
          </a:solidFill>
          <a:ln w="6350">
            <a:solidFill>
              <a:srgbClr val="E4E8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37"/>
          <p:cNvSpPr/>
          <p:nvPr/>
        </p:nvSpPr>
        <p:spPr>
          <a:xfrm>
            <a:off x="6501384" y="3429000"/>
            <a:ext cx="804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</a:t>
            </a:r>
            <a:endParaRPr lang="en-US" sz="950" dirty="0"/>
          </a:p>
        </p:txBody>
      </p:sp>
      <p:sp>
        <p:nvSpPr>
          <p:cNvPr id="43" name="Shape 38"/>
          <p:cNvSpPr/>
          <p:nvPr/>
        </p:nvSpPr>
        <p:spPr>
          <a:xfrm>
            <a:off x="7360920" y="3429000"/>
            <a:ext cx="1426464" cy="457200"/>
          </a:xfrm>
          <a:prstGeom prst="rect">
            <a:avLst/>
          </a:prstGeom>
          <a:solidFill>
            <a:srgbClr val="F5F7FC"/>
          </a:solidFill>
          <a:ln w="6350">
            <a:solidFill>
              <a:srgbClr val="E4E8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39"/>
          <p:cNvSpPr/>
          <p:nvPr/>
        </p:nvSpPr>
        <p:spPr>
          <a:xfrm>
            <a:off x="7415784" y="3429000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7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namespace</a:t>
            </a:r>
            <a:endParaRPr lang="en-US" sz="870" dirty="0"/>
          </a:p>
        </p:txBody>
      </p:sp>
      <p:sp>
        <p:nvSpPr>
          <p:cNvPr id="45" name="Shape 40"/>
          <p:cNvSpPr/>
          <p:nvPr/>
        </p:nvSpPr>
        <p:spPr>
          <a:xfrm>
            <a:off x="8787384" y="3429000"/>
            <a:ext cx="1426464" cy="457200"/>
          </a:xfrm>
          <a:prstGeom prst="rect">
            <a:avLst/>
          </a:prstGeom>
          <a:solidFill>
            <a:srgbClr val="F5F7FC"/>
          </a:solidFill>
          <a:ln w="6350">
            <a:solidFill>
              <a:srgbClr val="E4E8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1"/>
          <p:cNvSpPr/>
          <p:nvPr/>
        </p:nvSpPr>
        <p:spPr>
          <a:xfrm>
            <a:off x="8842248" y="3429000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7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endParaRPr lang="en-US" sz="870" dirty="0"/>
          </a:p>
        </p:txBody>
      </p:sp>
      <p:sp>
        <p:nvSpPr>
          <p:cNvPr id="47" name="Shape 42"/>
          <p:cNvSpPr/>
          <p:nvPr/>
        </p:nvSpPr>
        <p:spPr>
          <a:xfrm>
            <a:off x="10213848" y="3429000"/>
            <a:ext cx="1426464" cy="457200"/>
          </a:xfrm>
          <a:prstGeom prst="rect">
            <a:avLst/>
          </a:prstGeom>
          <a:solidFill>
            <a:srgbClr val="F5F7FC"/>
          </a:solidFill>
          <a:ln w="6350">
            <a:solidFill>
              <a:srgbClr val="E4E8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3"/>
          <p:cNvSpPr/>
          <p:nvPr/>
        </p:nvSpPr>
        <p:spPr>
          <a:xfrm>
            <a:off x="10268712" y="3429000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7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returnType Name(...)</a:t>
            </a:r>
            <a:endParaRPr lang="en-US" sz="870" dirty="0"/>
          </a:p>
        </p:txBody>
      </p:sp>
      <p:sp>
        <p:nvSpPr>
          <p:cNvPr id="49" name="Shape 44"/>
          <p:cNvSpPr/>
          <p:nvPr/>
        </p:nvSpPr>
        <p:spPr>
          <a:xfrm>
            <a:off x="6446520" y="3886200"/>
            <a:ext cx="914400" cy="566928"/>
          </a:xfrm>
          <a:prstGeom prst="rect">
            <a:avLst/>
          </a:prstGeom>
          <a:solidFill>
            <a:srgbClr val="EEF1FC"/>
          </a:solidFill>
          <a:ln w="6350">
            <a:solidFill>
              <a:srgbClr val="E4E8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5"/>
          <p:cNvSpPr/>
          <p:nvPr/>
        </p:nvSpPr>
        <p:spPr>
          <a:xfrm>
            <a:off x="6501384" y="3886200"/>
            <a:ext cx="8046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</a:t>
            </a:r>
            <a:endParaRPr lang="en-US" sz="950" dirty="0"/>
          </a:p>
        </p:txBody>
      </p:sp>
      <p:sp>
        <p:nvSpPr>
          <p:cNvPr id="51" name="Shape 46"/>
          <p:cNvSpPr/>
          <p:nvPr/>
        </p:nvSpPr>
        <p:spPr>
          <a:xfrm>
            <a:off x="7360920" y="3886200"/>
            <a:ext cx="1426464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4E8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47"/>
          <p:cNvSpPr/>
          <p:nvPr/>
        </p:nvSpPr>
        <p:spPr>
          <a:xfrm>
            <a:off x="7415784" y="3886200"/>
            <a:ext cx="13167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7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folder</a:t>
            </a:r>
            <a:endParaRPr lang="en-US" sz="870" dirty="0"/>
          </a:p>
        </p:txBody>
      </p:sp>
      <p:sp>
        <p:nvSpPr>
          <p:cNvPr id="53" name="Shape 48"/>
          <p:cNvSpPr/>
          <p:nvPr/>
        </p:nvSpPr>
        <p:spPr>
          <a:xfrm>
            <a:off x="8787384" y="3886200"/>
            <a:ext cx="1426464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4E8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49"/>
          <p:cNvSpPr/>
          <p:nvPr/>
        </p:nvSpPr>
        <p:spPr>
          <a:xfrm>
            <a:off x="8842248" y="3886200"/>
            <a:ext cx="13167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7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blueprint / template</a:t>
            </a:r>
            <a:endParaRPr lang="en-US" sz="870" dirty="0"/>
          </a:p>
        </p:txBody>
      </p:sp>
      <p:sp>
        <p:nvSpPr>
          <p:cNvPr id="55" name="Shape 50"/>
          <p:cNvSpPr/>
          <p:nvPr/>
        </p:nvSpPr>
        <p:spPr>
          <a:xfrm>
            <a:off x="10213848" y="3886200"/>
            <a:ext cx="1426464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4E8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1"/>
          <p:cNvSpPr/>
          <p:nvPr/>
        </p:nvSpPr>
        <p:spPr>
          <a:xfrm>
            <a:off x="10268712" y="3886200"/>
            <a:ext cx="13167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7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task on the blueprint</a:t>
            </a:r>
            <a:endParaRPr lang="en-US" sz="870" dirty="0"/>
          </a:p>
        </p:txBody>
      </p:sp>
      <p:sp>
        <p:nvSpPr>
          <p:cNvPr id="57" name="Shape 52"/>
          <p:cNvSpPr/>
          <p:nvPr/>
        </p:nvSpPr>
        <p:spPr>
          <a:xfrm>
            <a:off x="548640" y="4572000"/>
            <a:ext cx="11091672" cy="2103120"/>
          </a:xfrm>
          <a:prstGeom prst="roundRect">
            <a:avLst>
              <a:gd name="adj" fmla="val 4348"/>
            </a:avLst>
          </a:prstGeom>
          <a:solidFill>
            <a:srgbClr val="1B1F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Text 53"/>
          <p:cNvSpPr/>
          <p:nvPr/>
        </p:nvSpPr>
        <p:spPr>
          <a:xfrm>
            <a:off x="82296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9B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MyApp.cs</a:t>
            </a:r>
            <a:endParaRPr lang="en-US" sz="1000" dirty="0"/>
          </a:p>
        </p:txBody>
      </p:sp>
      <p:sp>
        <p:nvSpPr>
          <p:cNvPr id="59" name="Text 54"/>
          <p:cNvSpPr/>
          <p:nvPr/>
        </p:nvSpPr>
        <p:spPr>
          <a:xfrm>
            <a:off x="822960" y="4956048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namespace MyApp.Services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class Customer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public string Name;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public void SaveCustomer()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// logic here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readonly vs const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to make a variable's value fixed — but they work very differently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257800" cy="1874520"/>
          </a:xfrm>
          <a:prstGeom prst="roundRect">
            <a:avLst>
              <a:gd name="adj" fmla="val 4878"/>
            </a:avLst>
          </a:prstGeom>
          <a:solidFill>
            <a:srgbClr val="4A557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77240" y="1618488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99" y="1749247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6002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77240" y="2194560"/>
            <a:ext cx="4800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fixed at compile time — must be assigned right where it's declared</a:t>
            </a:r>
            <a:endParaRPr lang="en-US" sz="108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Implicitly static; shared across the whole type, not per object</a:t>
            </a:r>
            <a:endParaRPr lang="en-US" sz="108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works with primitive types, strings, and enums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6126480" y="1417320"/>
            <a:ext cx="5257800" cy="1874520"/>
          </a:xfrm>
          <a:prstGeom prst="roundRect">
            <a:avLst>
              <a:gd name="adj" fmla="val 487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6355080" y="1618488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5839" y="1749247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95160" y="16002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readonly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355080" y="2194560"/>
            <a:ext cx="4800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fixed at run time — can be set at declaration OR inside a constructor</a:t>
            </a:r>
            <a:endParaRPr lang="en-US" sz="108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instance-level (different value per object) or static</a:t>
            </a:r>
            <a:endParaRPr lang="en-US" sz="108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any type, including objects and collections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548640" y="3520440"/>
            <a:ext cx="2103120" cy="38404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1"/>
          <p:cNvSpPr/>
          <p:nvPr/>
        </p:nvSpPr>
        <p:spPr>
          <a:xfrm>
            <a:off x="685800" y="35204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2651760" y="3520440"/>
            <a:ext cx="4480560" cy="38404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3"/>
          <p:cNvSpPr/>
          <p:nvPr/>
        </p:nvSpPr>
        <p:spPr>
          <a:xfrm>
            <a:off x="2788920" y="352044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7132320" y="3520440"/>
            <a:ext cx="4507992" cy="38404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5"/>
          <p:cNvSpPr/>
          <p:nvPr/>
        </p:nvSpPr>
        <p:spPr>
          <a:xfrm>
            <a:off x="7269480" y="3520440"/>
            <a:ext cx="4233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readonly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548640" y="3904488"/>
            <a:ext cx="210312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7"/>
          <p:cNvSpPr/>
          <p:nvPr/>
        </p:nvSpPr>
        <p:spPr>
          <a:xfrm>
            <a:off x="685800" y="390448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2651760" y="3904488"/>
            <a:ext cx="448056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19"/>
          <p:cNvSpPr/>
          <p:nvPr/>
        </p:nvSpPr>
        <p:spPr>
          <a:xfrm>
            <a:off x="2788920" y="3904488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declaration only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7132320" y="3904488"/>
            <a:ext cx="4507992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1"/>
          <p:cNvSpPr/>
          <p:nvPr/>
        </p:nvSpPr>
        <p:spPr>
          <a:xfrm>
            <a:off x="7269480" y="3904488"/>
            <a:ext cx="4233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declaration or in a constructor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548640" y="4288536"/>
            <a:ext cx="2103120" cy="384048"/>
          </a:xfrm>
          <a:prstGeom prst="rect">
            <a:avLst/>
          </a:prstGeom>
          <a:solidFill>
            <a:srgbClr val="F5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3"/>
          <p:cNvSpPr/>
          <p:nvPr/>
        </p:nvSpPr>
        <p:spPr>
          <a:xfrm>
            <a:off x="685800" y="4288536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2651760" y="4288536"/>
            <a:ext cx="4480560" cy="384048"/>
          </a:xfrm>
          <a:prstGeom prst="rect">
            <a:avLst/>
          </a:prstGeom>
          <a:solidFill>
            <a:srgbClr val="F5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5"/>
          <p:cNvSpPr/>
          <p:nvPr/>
        </p:nvSpPr>
        <p:spPr>
          <a:xfrm>
            <a:off x="2788920" y="4288536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Compile-time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7132320" y="4288536"/>
            <a:ext cx="4507992" cy="384048"/>
          </a:xfrm>
          <a:prstGeom prst="rect">
            <a:avLst/>
          </a:prstGeom>
          <a:solidFill>
            <a:srgbClr val="F5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7"/>
          <p:cNvSpPr/>
          <p:nvPr/>
        </p:nvSpPr>
        <p:spPr>
          <a:xfrm>
            <a:off x="7269480" y="4288536"/>
            <a:ext cx="4233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Run-time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548640" y="4672584"/>
            <a:ext cx="210312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29"/>
          <p:cNvSpPr/>
          <p:nvPr/>
        </p:nvSpPr>
        <p:spPr>
          <a:xfrm>
            <a:off x="685800" y="4672584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100" dirty="0"/>
          </a:p>
        </p:txBody>
      </p:sp>
      <p:sp>
        <p:nvSpPr>
          <p:cNvPr id="34" name="Shape 30"/>
          <p:cNvSpPr/>
          <p:nvPr/>
        </p:nvSpPr>
        <p:spPr>
          <a:xfrm>
            <a:off x="2651760" y="4672584"/>
            <a:ext cx="448056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1"/>
          <p:cNvSpPr/>
          <p:nvPr/>
        </p:nvSpPr>
        <p:spPr>
          <a:xfrm>
            <a:off x="2788920" y="4672584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static (type-level)</a:t>
            </a:r>
            <a:endParaRPr lang="en-US" sz="1100" dirty="0"/>
          </a:p>
        </p:txBody>
      </p:sp>
      <p:sp>
        <p:nvSpPr>
          <p:cNvPr id="36" name="Shape 32"/>
          <p:cNvSpPr/>
          <p:nvPr/>
        </p:nvSpPr>
        <p:spPr>
          <a:xfrm>
            <a:off x="7132320" y="4672584"/>
            <a:ext cx="4507992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3"/>
          <p:cNvSpPr/>
          <p:nvPr/>
        </p:nvSpPr>
        <p:spPr>
          <a:xfrm>
            <a:off x="7269480" y="4672584"/>
            <a:ext cx="4233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or static — your choice</a:t>
            </a:r>
            <a:endParaRPr lang="en-US" sz="1100" dirty="0"/>
          </a:p>
        </p:txBody>
      </p:sp>
      <p:sp>
        <p:nvSpPr>
          <p:cNvPr id="38" name="Shape 34"/>
          <p:cNvSpPr/>
          <p:nvPr/>
        </p:nvSpPr>
        <p:spPr>
          <a:xfrm>
            <a:off x="548640" y="5056632"/>
            <a:ext cx="2103120" cy="384048"/>
          </a:xfrm>
          <a:prstGeom prst="rect">
            <a:avLst/>
          </a:prstGeom>
          <a:solidFill>
            <a:srgbClr val="F5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5"/>
          <p:cNvSpPr/>
          <p:nvPr/>
        </p:nvSpPr>
        <p:spPr>
          <a:xfrm>
            <a:off x="685800" y="505663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 types</a:t>
            </a:r>
            <a:endParaRPr lang="en-US" sz="1100" dirty="0"/>
          </a:p>
        </p:txBody>
      </p:sp>
      <p:sp>
        <p:nvSpPr>
          <p:cNvPr id="40" name="Shape 36"/>
          <p:cNvSpPr/>
          <p:nvPr/>
        </p:nvSpPr>
        <p:spPr>
          <a:xfrm>
            <a:off x="2651760" y="5056632"/>
            <a:ext cx="4480560" cy="384048"/>
          </a:xfrm>
          <a:prstGeom prst="rect">
            <a:avLst/>
          </a:prstGeom>
          <a:solidFill>
            <a:srgbClr val="F5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7"/>
          <p:cNvSpPr/>
          <p:nvPr/>
        </p:nvSpPr>
        <p:spPr>
          <a:xfrm>
            <a:off x="2788920" y="505663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Primitives, strings, enums</a:t>
            </a:r>
            <a:endParaRPr lang="en-US" sz="1100" dirty="0"/>
          </a:p>
        </p:txBody>
      </p:sp>
      <p:sp>
        <p:nvSpPr>
          <p:cNvPr id="42" name="Shape 38"/>
          <p:cNvSpPr/>
          <p:nvPr/>
        </p:nvSpPr>
        <p:spPr>
          <a:xfrm>
            <a:off x="7132320" y="5056632"/>
            <a:ext cx="4507992" cy="384048"/>
          </a:xfrm>
          <a:prstGeom prst="rect">
            <a:avLst/>
          </a:prstGeom>
          <a:solidFill>
            <a:srgbClr val="F5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39"/>
          <p:cNvSpPr/>
          <p:nvPr/>
        </p:nvSpPr>
        <p:spPr>
          <a:xfrm>
            <a:off x="7269480" y="5056632"/>
            <a:ext cx="4233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type</a:t>
            </a:r>
            <a:endParaRPr lang="en-US" sz="1100" dirty="0"/>
          </a:p>
        </p:txBody>
      </p:sp>
      <p:sp>
        <p:nvSpPr>
          <p:cNvPr id="44" name="Shape 40"/>
          <p:cNvSpPr/>
          <p:nvPr/>
        </p:nvSpPr>
        <p:spPr>
          <a:xfrm>
            <a:off x="548640" y="5577840"/>
            <a:ext cx="5257800" cy="1188720"/>
          </a:xfrm>
          <a:prstGeom prst="roundRect">
            <a:avLst>
              <a:gd name="adj" fmla="val 6154"/>
            </a:avLst>
          </a:prstGeom>
          <a:solidFill>
            <a:srgbClr val="1B1F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Shape 41"/>
          <p:cNvSpPr/>
          <p:nvPr/>
        </p:nvSpPr>
        <p:spPr>
          <a:xfrm>
            <a:off x="694944" y="5705856"/>
            <a:ext cx="64008" cy="6400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Shape 42"/>
          <p:cNvSpPr/>
          <p:nvPr/>
        </p:nvSpPr>
        <p:spPr>
          <a:xfrm>
            <a:off x="841248" y="5705856"/>
            <a:ext cx="64008" cy="6400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Shape 43"/>
          <p:cNvSpPr/>
          <p:nvPr/>
        </p:nvSpPr>
        <p:spPr>
          <a:xfrm>
            <a:off x="987552" y="5705856"/>
            <a:ext cx="64008" cy="6400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 44"/>
          <p:cNvSpPr/>
          <p:nvPr/>
        </p:nvSpPr>
        <p:spPr>
          <a:xfrm>
            <a:off x="749808" y="5888736"/>
            <a:ext cx="485546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double Pi = 3.14159;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value fixed forever, known at compile time</a:t>
            </a:r>
            <a:endParaRPr lang="en-US" sz="1100" dirty="0"/>
          </a:p>
        </p:txBody>
      </p:sp>
      <p:sp>
        <p:nvSpPr>
          <p:cNvPr id="49" name="Shape 45"/>
          <p:cNvSpPr/>
          <p:nvPr/>
        </p:nvSpPr>
        <p:spPr>
          <a:xfrm>
            <a:off x="5989320" y="5577840"/>
            <a:ext cx="5650992" cy="1188720"/>
          </a:xfrm>
          <a:prstGeom prst="roundRect">
            <a:avLst>
              <a:gd name="adj" fmla="val 6154"/>
            </a:avLst>
          </a:prstGeom>
          <a:solidFill>
            <a:srgbClr val="1B1F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Shape 46"/>
          <p:cNvSpPr/>
          <p:nvPr/>
        </p:nvSpPr>
        <p:spPr>
          <a:xfrm>
            <a:off x="6135624" y="5705856"/>
            <a:ext cx="64008" cy="6400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Shape 47"/>
          <p:cNvSpPr/>
          <p:nvPr/>
        </p:nvSpPr>
        <p:spPr>
          <a:xfrm>
            <a:off x="6281928" y="5705856"/>
            <a:ext cx="64008" cy="6400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Shape 48"/>
          <p:cNvSpPr/>
          <p:nvPr/>
        </p:nvSpPr>
        <p:spPr>
          <a:xfrm>
            <a:off x="6428232" y="5705856"/>
            <a:ext cx="64008" cy="6400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Text 49"/>
          <p:cNvSpPr/>
          <p:nvPr/>
        </p:nvSpPr>
        <p:spPr>
          <a:xfrm>
            <a:off x="6190488" y="5888736"/>
            <a:ext cx="524865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readonly string CreatedBy;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MyClass(string user) {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CreatedBy = user;  // set once, in constructor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“Global” Variable Declarations in C#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has no true global variables — here's how the same effect is achieved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77240" y="1536192"/>
            <a:ext cx="530352" cy="530352"/>
          </a:xfrm>
          <a:prstGeom prst="ellipse">
            <a:avLst/>
          </a:prstGeom>
          <a:solidFill>
            <a:srgbClr val="2A347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132" y="1674084"/>
            <a:ext cx="254569" cy="25456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41732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C or C++, C# does not allow variables floating outside a class. </a:t>
            </a: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variable must live inside a class, struct, or another type — there is no true “global scope.”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48640" y="23774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Common Pattern: a Static Class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48640" y="2788920"/>
            <a:ext cx="5394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static class — it can never be instantiated (no ‘new’)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it static fields or properties to hold shared data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members directly through the class name, from anywhere in the project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Optionally mark fields as readonly or const if they shouldn't change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48640" y="4754880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EEF1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777240" y="495604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5074920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71600" y="4892040"/>
            <a:ext cx="4434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with caution: </a:t>
            </a:r>
            <a:r>
              <a:rPr lang="en-US" sz="11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static state can cause issues with multi-threading and makes unit testing harder. Prefer configuration files or dependency injection for larger applications.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172200" y="2377440"/>
            <a:ext cx="5468112" cy="3794760"/>
          </a:xfrm>
          <a:prstGeom prst="roundRect">
            <a:avLst>
              <a:gd name="adj" fmla="val 1928"/>
            </a:avLst>
          </a:prstGeom>
          <a:solidFill>
            <a:srgbClr val="1B1F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6318504" y="2505456"/>
            <a:ext cx="64008" cy="6400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6464808" y="2505456"/>
            <a:ext cx="64008" cy="6400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6611112" y="2505456"/>
            <a:ext cx="64008" cy="6400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4"/>
          <p:cNvSpPr/>
          <p:nvPr/>
        </p:nvSpPr>
        <p:spPr>
          <a:xfrm>
            <a:off x="6373368" y="2688336"/>
            <a:ext cx="5065776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GlobalConstants.cs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static class GlobalConstants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static readonly string AppName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= "MyApp";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static int RequestCounter = 0;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Used from ANY class, no object needed: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Console.WriteLine(GlobalConstants.AppName);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GlobalConstants.RequestCounter++;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solidFill>
            <a:srgbClr val="141B4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463040" y="4572000"/>
            <a:ext cx="3291840" cy="3291840"/>
          </a:xfrm>
          <a:prstGeom prst="ellipse">
            <a:avLst/>
          </a:prstGeom>
          <a:solidFill>
            <a:srgbClr val="141B4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822960" cy="822960"/>
          </a:xfrm>
          <a:prstGeom prst="ellipse">
            <a:avLst/>
          </a:prstGeom>
          <a:solidFill>
            <a:srgbClr val="4F6B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930" y="2499970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3291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365760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Object-Oriented Programming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822960" y="46177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&amp; Objects  •  Inheritance  •  Polymorphism  •  Encapsulation  •  Abstraction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Classes &amp; Objects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blueprint, and the real thing built from it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02920" cy="502920"/>
          </a:xfrm>
          <a:prstGeom prst="ellipse">
            <a:avLst/>
          </a:prstGeom>
          <a:solidFill>
            <a:srgbClr val="EEF1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" y="1456639"/>
            <a:ext cx="241402" cy="2414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344168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it?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1920240"/>
            <a:ext cx="4160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 is a blueprint that defines fields (data) and methods (behavior). An object is a specific instance of that class, created with the 'new' keyword.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301752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3355848"/>
            <a:ext cx="41605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 itself holds no data — it's just a template</a:t>
            </a:r>
            <a:endParaRPr lang="en-US" sz="103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object created from a class gets its own copy of instance fields</a:t>
            </a:r>
            <a:endParaRPr lang="en-US" sz="103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create many objects from a single class</a:t>
            </a:r>
            <a:endParaRPr lang="en-US" sz="103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 are created using the 'new' keyword</a:t>
            </a:r>
            <a:endParaRPr lang="en-US" sz="1030" dirty="0"/>
          </a:p>
        </p:txBody>
      </p:sp>
      <p:sp>
        <p:nvSpPr>
          <p:cNvPr id="10" name="Shape 7"/>
          <p:cNvSpPr/>
          <p:nvPr/>
        </p:nvSpPr>
        <p:spPr>
          <a:xfrm>
            <a:off x="548640" y="5806440"/>
            <a:ext cx="4160520" cy="914400"/>
          </a:xfrm>
          <a:prstGeom prst="roundRect">
            <a:avLst>
              <a:gd name="adj" fmla="val 10000"/>
            </a:avLst>
          </a:prstGeom>
          <a:solidFill>
            <a:srgbClr val="EEF1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731520" y="5806440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</a:t>
            </a:r>
            <a:r>
              <a:rPr lang="en-US" sz="105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 is like a house blueprint; each object is an actual house built from it — same design, different addresses.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983480" y="1325880"/>
            <a:ext cx="6656832" cy="4251960"/>
          </a:xfrm>
          <a:prstGeom prst="roundRect">
            <a:avLst>
              <a:gd name="adj" fmla="val 1720"/>
            </a:avLst>
          </a:prstGeom>
          <a:solidFill>
            <a:srgbClr val="1B1F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5129784" y="1453896"/>
            <a:ext cx="64008" cy="6400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5276088" y="1453896"/>
            <a:ext cx="64008" cy="6400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5422392" y="1453896"/>
            <a:ext cx="64008" cy="6400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5184648" y="1636776"/>
            <a:ext cx="6254496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System;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Car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string Model;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int Speed;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Drive()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Console.WriteLine($"{Model} is driving at {Speed} km/h");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Program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static void Main()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Car car1 = new Car { Model = "Toyota", Speed = 80 };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Car car2 = new Car { Model = "Honda", Speed = 100 };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car1.Drive();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car2.Drive();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70" dirty="0"/>
          </a:p>
        </p:txBody>
      </p:sp>
      <p:sp>
        <p:nvSpPr>
          <p:cNvPr id="17" name="Shape 14"/>
          <p:cNvSpPr/>
          <p:nvPr/>
        </p:nvSpPr>
        <p:spPr>
          <a:xfrm>
            <a:off x="10222992" y="1408176"/>
            <a:ext cx="256032" cy="256032"/>
          </a:xfrm>
          <a:prstGeom prst="ellipse">
            <a:avLst/>
          </a:prstGeom>
          <a:solidFill>
            <a:srgbClr val="1B1F3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9560" y="1474744"/>
            <a:ext cx="122895" cy="122895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9491472" y="1380744"/>
            <a:ext cx="1508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Runnable — copy, paste, and run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4983480" y="5650992"/>
            <a:ext cx="6656832" cy="1005840"/>
          </a:xfrm>
          <a:prstGeom prst="roundRect">
            <a:avLst>
              <a:gd name="adj" fmla="val 7273"/>
            </a:avLst>
          </a:prstGeom>
          <a:solidFill>
            <a:srgbClr val="0E10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7"/>
          <p:cNvSpPr/>
          <p:nvPr/>
        </p:nvSpPr>
        <p:spPr>
          <a:xfrm>
            <a:off x="5148072" y="5769864"/>
            <a:ext cx="274320" cy="274320"/>
          </a:xfrm>
          <a:prstGeom prst="ellipse">
            <a:avLst/>
          </a:prstGeom>
          <a:solidFill>
            <a:srgbClr val="2A347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9395" y="5841187"/>
            <a:ext cx="131674" cy="13167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495544" y="576986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C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5257800" y="6108192"/>
            <a:ext cx="610819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7C9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Toyota is driving at 80 km/h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7C9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Honda is driving at 100 km/h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Inheritance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 acquiring the members of another class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02920" cy="502920"/>
          </a:xfrm>
          <a:prstGeom prst="ellipse">
            <a:avLst/>
          </a:prstGeom>
          <a:solidFill>
            <a:srgbClr val="EEF1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" y="1456639"/>
            <a:ext cx="241402" cy="2414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344168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it?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1920240"/>
            <a:ext cx="4160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 lets a new class (derived/child) reuse fields and methods from an existing class (base/parent), using the ':' syntax.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301752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3355848"/>
            <a:ext cx="41605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Promotes code reuse — write common logic once in the base class</a:t>
            </a:r>
            <a:endParaRPr lang="en-US" sz="103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child class can add new members or override existing ones</a:t>
            </a:r>
            <a:endParaRPr lang="en-US" sz="103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supports single inheritance: one direct base class only</a:t>
            </a:r>
            <a:endParaRPr lang="en-US" sz="103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'base' keyword accesses members of the parent class</a:t>
            </a:r>
            <a:endParaRPr lang="en-US" sz="1030" dirty="0"/>
          </a:p>
        </p:txBody>
      </p:sp>
      <p:sp>
        <p:nvSpPr>
          <p:cNvPr id="10" name="Shape 7"/>
          <p:cNvSpPr/>
          <p:nvPr/>
        </p:nvSpPr>
        <p:spPr>
          <a:xfrm>
            <a:off x="548640" y="5806440"/>
            <a:ext cx="4160520" cy="914400"/>
          </a:xfrm>
          <a:prstGeom prst="roundRect">
            <a:avLst>
              <a:gd name="adj" fmla="val 10000"/>
            </a:avLst>
          </a:prstGeom>
          <a:solidFill>
            <a:srgbClr val="EEF1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731520" y="5806440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</a:t>
            </a:r>
            <a:r>
              <a:rPr lang="en-US" sz="105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Dog IS AN Animal — it automatically gets everything an Animal has (like Eat), and adds its own behavior (like Bark).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983480" y="1325880"/>
            <a:ext cx="6656832" cy="4251960"/>
          </a:xfrm>
          <a:prstGeom prst="roundRect">
            <a:avLst>
              <a:gd name="adj" fmla="val 1720"/>
            </a:avLst>
          </a:prstGeom>
          <a:solidFill>
            <a:srgbClr val="1B1F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5129784" y="1453896"/>
            <a:ext cx="64008" cy="6400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5276088" y="1453896"/>
            <a:ext cx="64008" cy="6400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5422392" y="1453896"/>
            <a:ext cx="64008" cy="6400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5184648" y="1636776"/>
            <a:ext cx="6254496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System;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Animal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string Name;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Eat()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Console.WriteLine($"{Name} is eating.");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Dog : Animal   // Dog inherits from Animal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Bark()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Console.WriteLine($"{Name} is barking.");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Program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static void Main()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Dog myDog = new Dog { Name = "Rex" };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myDog.Eat();    // inherited from Animal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myDog.Bark();   // defined in Dog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70" dirty="0"/>
          </a:p>
        </p:txBody>
      </p:sp>
      <p:sp>
        <p:nvSpPr>
          <p:cNvPr id="17" name="Shape 14"/>
          <p:cNvSpPr/>
          <p:nvPr/>
        </p:nvSpPr>
        <p:spPr>
          <a:xfrm>
            <a:off x="10222992" y="1408176"/>
            <a:ext cx="256032" cy="256032"/>
          </a:xfrm>
          <a:prstGeom prst="ellipse">
            <a:avLst/>
          </a:prstGeom>
          <a:solidFill>
            <a:srgbClr val="1B1F3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9560" y="1474744"/>
            <a:ext cx="122895" cy="122895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9491472" y="1380744"/>
            <a:ext cx="1508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Runnable — copy, paste, and run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4983480" y="5650992"/>
            <a:ext cx="6656832" cy="1005840"/>
          </a:xfrm>
          <a:prstGeom prst="roundRect">
            <a:avLst>
              <a:gd name="adj" fmla="val 7273"/>
            </a:avLst>
          </a:prstGeom>
          <a:solidFill>
            <a:srgbClr val="0E10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7"/>
          <p:cNvSpPr/>
          <p:nvPr/>
        </p:nvSpPr>
        <p:spPr>
          <a:xfrm>
            <a:off x="5148072" y="5769864"/>
            <a:ext cx="274320" cy="274320"/>
          </a:xfrm>
          <a:prstGeom prst="ellipse">
            <a:avLst/>
          </a:prstGeom>
          <a:solidFill>
            <a:srgbClr val="2A347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9395" y="5841187"/>
            <a:ext cx="131674" cy="13167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495544" y="576986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C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5257800" y="6108192"/>
            <a:ext cx="610819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7C9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Rex is eating.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7C9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Rex is barking.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Polymorphism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“Many forms” — one call, different behavior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02920" cy="502920"/>
          </a:xfrm>
          <a:prstGeom prst="ellipse">
            <a:avLst/>
          </a:prstGeom>
          <a:solidFill>
            <a:srgbClr val="EEF1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" y="1456639"/>
            <a:ext cx="241402" cy="2414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344168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it?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1920240"/>
            <a:ext cx="4160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 lets the same method call behave differently depending on the actual object type. C# achieves this with 'virtual' and 'override'.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301752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3355848"/>
            <a:ext cx="41605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Run-time polymorphism: virtual + override — decided while the program runs</a:t>
            </a:r>
            <a:endParaRPr lang="en-US" sz="103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Compile-time polymorphism: method overloading — same name, different parameters</a:t>
            </a:r>
            <a:endParaRPr lang="en-US" sz="103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base-type variable can hold any derived-type object</a:t>
            </a:r>
            <a:endParaRPr lang="en-US" sz="103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 overridden method is chosen automatically at run time</a:t>
            </a:r>
            <a:endParaRPr lang="en-US" sz="1030" dirty="0"/>
          </a:p>
        </p:txBody>
      </p:sp>
      <p:sp>
        <p:nvSpPr>
          <p:cNvPr id="10" name="Shape 7"/>
          <p:cNvSpPr/>
          <p:nvPr/>
        </p:nvSpPr>
        <p:spPr>
          <a:xfrm>
            <a:off x="548640" y="5806440"/>
            <a:ext cx="4160520" cy="914400"/>
          </a:xfrm>
          <a:prstGeom prst="roundRect">
            <a:avLst>
              <a:gd name="adj" fmla="val 10000"/>
            </a:avLst>
          </a:prstGeom>
          <a:solidFill>
            <a:srgbClr val="EEF1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731520" y="5806440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</a:t>
            </a:r>
            <a:r>
              <a:rPr lang="en-US" sz="105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Pressing 'play' on any device works the same way, but a TV, radio, and phone each play it differently underneath.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983480" y="1325880"/>
            <a:ext cx="6656832" cy="4251960"/>
          </a:xfrm>
          <a:prstGeom prst="roundRect">
            <a:avLst>
              <a:gd name="adj" fmla="val 1720"/>
            </a:avLst>
          </a:prstGeom>
          <a:solidFill>
            <a:srgbClr val="1B1F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5129784" y="1453896"/>
            <a:ext cx="64008" cy="6400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5276088" y="1453896"/>
            <a:ext cx="64008" cy="6400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5422392" y="1453896"/>
            <a:ext cx="64008" cy="6400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5184648" y="1636776"/>
            <a:ext cx="6254496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System;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Shape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virtual void Draw() =&gt;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Console.WriteLine("Drawing a shape");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Circle : Shape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override void Draw() =&gt;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Console.WriteLine("Drawing a circle");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Square : Shape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override void Draw() =&gt;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Console.WriteLine("Drawing a square");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Program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static void Main()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Shape[] shapes = { new Circle(), new Square() };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foreach (Shape s in shapes)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s.Draw();   // same call, different result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70" dirty="0"/>
          </a:p>
        </p:txBody>
      </p:sp>
      <p:sp>
        <p:nvSpPr>
          <p:cNvPr id="17" name="Shape 14"/>
          <p:cNvSpPr/>
          <p:nvPr/>
        </p:nvSpPr>
        <p:spPr>
          <a:xfrm>
            <a:off x="10222992" y="1408176"/>
            <a:ext cx="256032" cy="256032"/>
          </a:xfrm>
          <a:prstGeom prst="ellipse">
            <a:avLst/>
          </a:prstGeom>
          <a:solidFill>
            <a:srgbClr val="1B1F3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9560" y="1474744"/>
            <a:ext cx="122895" cy="122895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9491472" y="1380744"/>
            <a:ext cx="1508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Runnable — copy, paste, and run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4983480" y="5650992"/>
            <a:ext cx="6656832" cy="1005840"/>
          </a:xfrm>
          <a:prstGeom prst="roundRect">
            <a:avLst>
              <a:gd name="adj" fmla="val 7273"/>
            </a:avLst>
          </a:prstGeom>
          <a:solidFill>
            <a:srgbClr val="0E10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7"/>
          <p:cNvSpPr/>
          <p:nvPr/>
        </p:nvSpPr>
        <p:spPr>
          <a:xfrm>
            <a:off x="5148072" y="5769864"/>
            <a:ext cx="274320" cy="274320"/>
          </a:xfrm>
          <a:prstGeom prst="ellipse">
            <a:avLst/>
          </a:prstGeom>
          <a:solidFill>
            <a:srgbClr val="2A347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9395" y="5841187"/>
            <a:ext cx="131674" cy="13167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495544" y="576986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C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5257800" y="6108192"/>
            <a:ext cx="610819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7C9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Drawing a circle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7C9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Drawing a square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Encapsulation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Bundling data with behavior, and controlling access to it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02920" cy="502920"/>
          </a:xfrm>
          <a:prstGeom prst="ellipse">
            <a:avLst/>
          </a:prstGeom>
          <a:solidFill>
            <a:srgbClr val="EEF1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" y="1456639"/>
            <a:ext cx="241402" cy="2414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344168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it?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1920240"/>
            <a:ext cx="4160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 hides a class's internal data behind private fields, exposing only controlled access through public properties and methods.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301752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3355848"/>
            <a:ext cx="41605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are marked private so they can't be changed directly</a:t>
            </a:r>
            <a:endParaRPr lang="en-US" sz="103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methods/properties validate and control how data changes</a:t>
            </a:r>
            <a:endParaRPr lang="en-US" sz="103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data integrity — invalid states become impossible</a:t>
            </a:r>
            <a:endParaRPr lang="en-US" sz="103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implementation can change without breaking outside code</a:t>
            </a:r>
            <a:endParaRPr lang="en-US" sz="1030" dirty="0"/>
          </a:p>
        </p:txBody>
      </p:sp>
      <p:sp>
        <p:nvSpPr>
          <p:cNvPr id="10" name="Shape 7"/>
          <p:cNvSpPr/>
          <p:nvPr/>
        </p:nvSpPr>
        <p:spPr>
          <a:xfrm>
            <a:off x="548640" y="5806440"/>
            <a:ext cx="4160520" cy="914400"/>
          </a:xfrm>
          <a:prstGeom prst="roundRect">
            <a:avLst>
              <a:gd name="adj" fmla="val 10000"/>
            </a:avLst>
          </a:prstGeom>
          <a:solidFill>
            <a:srgbClr val="EEF1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731520" y="5806440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</a:t>
            </a:r>
            <a:r>
              <a:rPr lang="en-US" sz="105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bank won't let you reach into the vault yourself — you go through a teller (the public methods) who enforces the rules.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983480" y="1325880"/>
            <a:ext cx="6656832" cy="4251960"/>
          </a:xfrm>
          <a:prstGeom prst="roundRect">
            <a:avLst>
              <a:gd name="adj" fmla="val 1720"/>
            </a:avLst>
          </a:prstGeom>
          <a:solidFill>
            <a:srgbClr val="1B1F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5129784" y="1453896"/>
            <a:ext cx="64008" cy="6400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5276088" y="1453896"/>
            <a:ext cx="64008" cy="6400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5422392" y="1453896"/>
            <a:ext cx="64008" cy="6400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5184648" y="1636776"/>
            <a:ext cx="6254496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System;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BankAccount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double balance;   // hidden from outside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double Balance =&gt; balance;   // read-only view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Deposit(double amount)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(amount &gt; 0) balance += amount;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Withdraw(double amount)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(amount &gt; 0 &amp;&amp; amount &lt;= balance)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balance -= amount;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Console.WriteLine("Invalid withdrawal");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Program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static void Main()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BankAccount acc = new BankAccount();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acc.Deposit(1000);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acc.Withdraw(300);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Console.WriteLine($"Balance: {acc.Balance}");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70" dirty="0"/>
          </a:p>
        </p:txBody>
      </p:sp>
      <p:sp>
        <p:nvSpPr>
          <p:cNvPr id="17" name="Shape 14"/>
          <p:cNvSpPr/>
          <p:nvPr/>
        </p:nvSpPr>
        <p:spPr>
          <a:xfrm>
            <a:off x="10222992" y="1408176"/>
            <a:ext cx="256032" cy="256032"/>
          </a:xfrm>
          <a:prstGeom prst="ellipse">
            <a:avLst/>
          </a:prstGeom>
          <a:solidFill>
            <a:srgbClr val="1B1F3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9560" y="1474744"/>
            <a:ext cx="122895" cy="122895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9491472" y="1380744"/>
            <a:ext cx="1508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Runnable — copy, paste, and run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4983480" y="5650992"/>
            <a:ext cx="6656832" cy="1005840"/>
          </a:xfrm>
          <a:prstGeom prst="roundRect">
            <a:avLst>
              <a:gd name="adj" fmla="val 7273"/>
            </a:avLst>
          </a:prstGeom>
          <a:solidFill>
            <a:srgbClr val="0E10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7"/>
          <p:cNvSpPr/>
          <p:nvPr/>
        </p:nvSpPr>
        <p:spPr>
          <a:xfrm>
            <a:off x="5148072" y="5769864"/>
            <a:ext cx="274320" cy="274320"/>
          </a:xfrm>
          <a:prstGeom prst="ellipse">
            <a:avLst/>
          </a:prstGeom>
          <a:solidFill>
            <a:srgbClr val="2A347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9395" y="5841187"/>
            <a:ext cx="131674" cy="13167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495544" y="576986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C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5257800" y="6108192"/>
            <a:ext cx="610819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7C9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Balance: 700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what an object does, hiding how it does it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02920" cy="502920"/>
          </a:xfrm>
          <a:prstGeom prst="ellipse">
            <a:avLst/>
          </a:prstGeom>
          <a:solidFill>
            <a:srgbClr val="EEF1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" y="1456639"/>
            <a:ext cx="241402" cy="2414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344168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it?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1920240"/>
            <a:ext cx="4160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 focuses on essential behavior while hiding implementation detail, typically using abstract classes or interfaces.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301752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3355848"/>
            <a:ext cx="41605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abstract class cannot be instantiated directly with 'new'</a:t>
            </a:r>
            <a:endParaRPr lang="en-US" sz="103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methods declare a signature but have no body</a:t>
            </a:r>
            <a:endParaRPr lang="en-US" sz="103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derived class MUST implement (override) abstract methods</a:t>
            </a:r>
            <a:endParaRPr lang="en-US" sz="103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Callers only need to know WHAT a method does, not HOW</a:t>
            </a:r>
            <a:endParaRPr lang="en-US" sz="1030" dirty="0"/>
          </a:p>
        </p:txBody>
      </p:sp>
      <p:sp>
        <p:nvSpPr>
          <p:cNvPr id="10" name="Shape 7"/>
          <p:cNvSpPr/>
          <p:nvPr/>
        </p:nvSpPr>
        <p:spPr>
          <a:xfrm>
            <a:off x="548640" y="5806440"/>
            <a:ext cx="4160520" cy="914400"/>
          </a:xfrm>
          <a:prstGeom prst="roundRect">
            <a:avLst>
              <a:gd name="adj" fmla="val 10000"/>
            </a:avLst>
          </a:prstGeom>
          <a:solidFill>
            <a:srgbClr val="EEF1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731520" y="5806440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</a:t>
            </a:r>
            <a:r>
              <a:rPr lang="en-US" sz="105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Driving a car, you use the steering wheel and pedals — you don't need to know how the engine internally works.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983480" y="1325880"/>
            <a:ext cx="6656832" cy="4251960"/>
          </a:xfrm>
          <a:prstGeom prst="roundRect">
            <a:avLst>
              <a:gd name="adj" fmla="val 1720"/>
            </a:avLst>
          </a:prstGeom>
          <a:solidFill>
            <a:srgbClr val="1B1F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5129784" y="1453896"/>
            <a:ext cx="64008" cy="6400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5276088" y="1453896"/>
            <a:ext cx="64008" cy="6400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5422392" y="1453896"/>
            <a:ext cx="64008" cy="6400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5184648" y="1636776"/>
            <a:ext cx="6254496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System;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abstract class Payment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No body -- every subclass must implement this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abstract void ProcessPayment(double amount);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PrintReceipt() =&gt;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Console.WriteLine("Receipt printed.");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CreditCardPayment : Payment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override void ProcessPayment(double amount) =&gt;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Console.WriteLine($"Processing card payment of {amount}");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Program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static void Main()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Payment payment = new CreditCardPayment();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payment.ProcessPayment(250.0);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payment.PrintReceipt();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70" dirty="0"/>
          </a:p>
        </p:txBody>
      </p:sp>
      <p:sp>
        <p:nvSpPr>
          <p:cNvPr id="17" name="Shape 14"/>
          <p:cNvSpPr/>
          <p:nvPr/>
        </p:nvSpPr>
        <p:spPr>
          <a:xfrm>
            <a:off x="10222992" y="1408176"/>
            <a:ext cx="256032" cy="256032"/>
          </a:xfrm>
          <a:prstGeom prst="ellipse">
            <a:avLst/>
          </a:prstGeom>
          <a:solidFill>
            <a:srgbClr val="1B1F3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9560" y="1474744"/>
            <a:ext cx="122895" cy="122895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9491472" y="1380744"/>
            <a:ext cx="1508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Runnable — copy, paste, and run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4983480" y="5650992"/>
            <a:ext cx="6656832" cy="1005840"/>
          </a:xfrm>
          <a:prstGeom prst="roundRect">
            <a:avLst>
              <a:gd name="adj" fmla="val 7273"/>
            </a:avLst>
          </a:prstGeom>
          <a:solidFill>
            <a:srgbClr val="0E10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7"/>
          <p:cNvSpPr/>
          <p:nvPr/>
        </p:nvSpPr>
        <p:spPr>
          <a:xfrm>
            <a:off x="5148072" y="5769864"/>
            <a:ext cx="274320" cy="274320"/>
          </a:xfrm>
          <a:prstGeom prst="ellipse">
            <a:avLst/>
          </a:prstGeom>
          <a:solidFill>
            <a:srgbClr val="2A347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9395" y="5841187"/>
            <a:ext cx="131674" cy="13167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495544" y="576986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C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5257800" y="6108192"/>
            <a:ext cx="610819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7C9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Processing card payment of 250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7C9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Receipt printed.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Classes in C#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special class forms you'll run into beyond the ordinary class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77240" y="1618488"/>
            <a:ext cx="502920" cy="502920"/>
          </a:xfrm>
          <a:prstGeom prst="ellipse">
            <a:avLst/>
          </a:prstGeom>
          <a:solidFill>
            <a:srgbClr val="EEF1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99" y="1749247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6002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Class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224028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3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be instantiated. Every member must be static. Used for utility/helper methods.</a:t>
            </a:r>
            <a:endParaRPr lang="en-US" sz="1030" dirty="0"/>
          </a:p>
        </p:txBody>
      </p:sp>
      <p:sp>
        <p:nvSpPr>
          <p:cNvPr id="9" name="Shape 6"/>
          <p:cNvSpPr/>
          <p:nvPr/>
        </p:nvSpPr>
        <p:spPr>
          <a:xfrm>
            <a:off x="777240" y="3246120"/>
            <a:ext cx="3063240" cy="365760"/>
          </a:xfrm>
          <a:prstGeom prst="roundRect">
            <a:avLst>
              <a:gd name="adj" fmla="val 15000"/>
            </a:avLst>
          </a:prstGeom>
          <a:solidFill>
            <a:srgbClr val="1B1F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868680" y="324612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class MathHelper { }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389120" y="141732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4617720" y="1618488"/>
            <a:ext cx="502920" cy="502920"/>
          </a:xfrm>
          <a:prstGeom prst="ellipse">
            <a:avLst/>
          </a:prstGeom>
          <a:solidFill>
            <a:srgbClr val="EEF1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8479" y="1749247"/>
            <a:ext cx="241402" cy="24140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57800" y="16002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Sealed Class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617720" y="224028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3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be inherited from. Stops further derivation, often for design or security reasons.</a:t>
            </a:r>
            <a:endParaRPr lang="en-US" sz="1030" dirty="0"/>
          </a:p>
        </p:txBody>
      </p:sp>
      <p:sp>
        <p:nvSpPr>
          <p:cNvPr id="16" name="Shape 12"/>
          <p:cNvSpPr/>
          <p:nvPr/>
        </p:nvSpPr>
        <p:spPr>
          <a:xfrm>
            <a:off x="4617720" y="3246120"/>
            <a:ext cx="3063240" cy="365760"/>
          </a:xfrm>
          <a:prstGeom prst="roundRect">
            <a:avLst>
              <a:gd name="adj" fmla="val 15000"/>
            </a:avLst>
          </a:prstGeom>
          <a:solidFill>
            <a:srgbClr val="1B1F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3"/>
          <p:cNvSpPr/>
          <p:nvPr/>
        </p:nvSpPr>
        <p:spPr>
          <a:xfrm>
            <a:off x="4709160" y="324612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sealed class Logger { }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8229600" y="141732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5"/>
          <p:cNvSpPr/>
          <p:nvPr/>
        </p:nvSpPr>
        <p:spPr>
          <a:xfrm>
            <a:off x="8458200" y="1618488"/>
            <a:ext cx="502920" cy="502920"/>
          </a:xfrm>
          <a:prstGeom prst="ellipse">
            <a:avLst/>
          </a:prstGeom>
          <a:solidFill>
            <a:srgbClr val="EEF1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8959" y="1749247"/>
            <a:ext cx="241402" cy="24140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098280" y="16002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Class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8458200" y="224028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3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be instantiated directly. May mix abstract and concrete methods as a base class.</a:t>
            </a:r>
            <a:endParaRPr lang="en-US" sz="1030" dirty="0"/>
          </a:p>
        </p:txBody>
      </p:sp>
      <p:sp>
        <p:nvSpPr>
          <p:cNvPr id="23" name="Shape 18"/>
          <p:cNvSpPr/>
          <p:nvPr/>
        </p:nvSpPr>
        <p:spPr>
          <a:xfrm>
            <a:off x="8458200" y="3246120"/>
            <a:ext cx="3063240" cy="365760"/>
          </a:xfrm>
          <a:prstGeom prst="roundRect">
            <a:avLst>
              <a:gd name="adj" fmla="val 15000"/>
            </a:avLst>
          </a:prstGeom>
          <a:solidFill>
            <a:srgbClr val="1B1F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19"/>
          <p:cNvSpPr/>
          <p:nvPr/>
        </p:nvSpPr>
        <p:spPr>
          <a:xfrm>
            <a:off x="8549640" y="324612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abstract class Shape { }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548640" y="402336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1"/>
          <p:cNvSpPr/>
          <p:nvPr/>
        </p:nvSpPr>
        <p:spPr>
          <a:xfrm>
            <a:off x="777240" y="4224528"/>
            <a:ext cx="502920" cy="502920"/>
          </a:xfrm>
          <a:prstGeom prst="ellipse">
            <a:avLst/>
          </a:prstGeom>
          <a:solidFill>
            <a:srgbClr val="EEF1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999" y="4355287"/>
            <a:ext cx="241402" cy="24140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417320" y="42062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Class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777240" y="484632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3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split across multiple files; the compiler merges them into one class.</a:t>
            </a:r>
            <a:endParaRPr lang="en-US" sz="1030" dirty="0"/>
          </a:p>
        </p:txBody>
      </p:sp>
      <p:sp>
        <p:nvSpPr>
          <p:cNvPr id="30" name="Shape 24"/>
          <p:cNvSpPr/>
          <p:nvPr/>
        </p:nvSpPr>
        <p:spPr>
          <a:xfrm>
            <a:off x="777240" y="5852160"/>
            <a:ext cx="3063240" cy="365760"/>
          </a:xfrm>
          <a:prstGeom prst="roundRect">
            <a:avLst>
              <a:gd name="adj" fmla="val 15000"/>
            </a:avLst>
          </a:prstGeom>
          <a:solidFill>
            <a:srgbClr val="1B1F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5"/>
          <p:cNvSpPr/>
          <p:nvPr/>
        </p:nvSpPr>
        <p:spPr>
          <a:xfrm>
            <a:off x="868680" y="585216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partial class Customer { }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4389120" y="402336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27"/>
          <p:cNvSpPr/>
          <p:nvPr/>
        </p:nvSpPr>
        <p:spPr>
          <a:xfrm>
            <a:off x="4617720" y="4224528"/>
            <a:ext cx="502920" cy="502920"/>
          </a:xfrm>
          <a:prstGeom prst="ellipse">
            <a:avLst/>
          </a:prstGeom>
          <a:solidFill>
            <a:srgbClr val="EEF1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48479" y="4355287"/>
            <a:ext cx="241402" cy="241402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5257800" y="42062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Class</a:t>
            </a:r>
            <a:endParaRPr lang="en-US" sz="1400" dirty="0"/>
          </a:p>
        </p:txBody>
      </p:sp>
      <p:sp>
        <p:nvSpPr>
          <p:cNvPr id="36" name="Text 29"/>
          <p:cNvSpPr/>
          <p:nvPr/>
        </p:nvSpPr>
        <p:spPr>
          <a:xfrm>
            <a:off x="4617720" y="484632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3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 declared inside another class — groups closely related helper types.</a:t>
            </a:r>
            <a:endParaRPr lang="en-US" sz="1030" dirty="0"/>
          </a:p>
        </p:txBody>
      </p:sp>
      <p:sp>
        <p:nvSpPr>
          <p:cNvPr id="37" name="Shape 30"/>
          <p:cNvSpPr/>
          <p:nvPr/>
        </p:nvSpPr>
        <p:spPr>
          <a:xfrm>
            <a:off x="4617720" y="5852160"/>
            <a:ext cx="3063240" cy="365760"/>
          </a:xfrm>
          <a:prstGeom prst="roundRect">
            <a:avLst>
              <a:gd name="adj" fmla="val 15000"/>
            </a:avLst>
          </a:prstGeom>
          <a:solidFill>
            <a:srgbClr val="1B1F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1"/>
          <p:cNvSpPr/>
          <p:nvPr/>
        </p:nvSpPr>
        <p:spPr>
          <a:xfrm>
            <a:off x="4709160" y="585216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Outer { class Inner { } }</a:t>
            </a:r>
            <a:endParaRPr lang="en-US" sz="900" dirty="0"/>
          </a:p>
        </p:txBody>
      </p:sp>
      <p:sp>
        <p:nvSpPr>
          <p:cNvPr id="39" name="Shape 32"/>
          <p:cNvSpPr/>
          <p:nvPr/>
        </p:nvSpPr>
        <p:spPr>
          <a:xfrm>
            <a:off x="8229600" y="402336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Shape 33"/>
          <p:cNvSpPr/>
          <p:nvPr/>
        </p:nvSpPr>
        <p:spPr>
          <a:xfrm>
            <a:off x="8458200" y="4224528"/>
            <a:ext cx="502920" cy="502920"/>
          </a:xfrm>
          <a:prstGeom prst="ellipse">
            <a:avLst/>
          </a:prstGeom>
          <a:solidFill>
            <a:srgbClr val="EEF1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88959" y="4355287"/>
            <a:ext cx="241402" cy="241402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9098280" y="42062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Class</a:t>
            </a:r>
            <a:endParaRPr lang="en-US" sz="1400" dirty="0"/>
          </a:p>
        </p:txBody>
      </p:sp>
      <p:sp>
        <p:nvSpPr>
          <p:cNvPr id="43" name="Text 35"/>
          <p:cNvSpPr/>
          <p:nvPr/>
        </p:nvSpPr>
        <p:spPr>
          <a:xfrm>
            <a:off x="8458200" y="484632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3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any data type using a type parameter, resolved when it's used.</a:t>
            </a:r>
            <a:endParaRPr lang="en-US" sz="1030" dirty="0"/>
          </a:p>
        </p:txBody>
      </p:sp>
      <p:sp>
        <p:nvSpPr>
          <p:cNvPr id="44" name="Shape 36"/>
          <p:cNvSpPr/>
          <p:nvPr/>
        </p:nvSpPr>
        <p:spPr>
          <a:xfrm>
            <a:off x="8458200" y="5852160"/>
            <a:ext cx="3063240" cy="365760"/>
          </a:xfrm>
          <a:prstGeom prst="roundRect">
            <a:avLst>
              <a:gd name="adj" fmla="val 15000"/>
            </a:avLst>
          </a:prstGeom>
          <a:solidFill>
            <a:srgbClr val="1B1F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37"/>
          <p:cNvSpPr/>
          <p:nvPr/>
        </p:nvSpPr>
        <p:spPr>
          <a:xfrm>
            <a:off x="8549640" y="585216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Box&lt;T&gt; { public T Value; }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C# Have Multiple Inheritance?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with classes — but yes, through interfaces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 in C# can only inherit from ONE base class. 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called single inheritance, and it's a deliberate design choice.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allow it?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51460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two base classes had a method with the same signature, the compiler wouldn't know which one to use — this ambiguity is called the Diamond Problem.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548640" y="33375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Workaround: Interfaces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65760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 CAN implement as many interfaces as it needs. Since interfaces only declare method signatures (no conflicting implementation), there's no ambiguity.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548640" y="4572000"/>
            <a:ext cx="5029200" cy="960120"/>
          </a:xfrm>
          <a:prstGeom prst="roundRect">
            <a:avLst>
              <a:gd name="adj" fmla="val 7619"/>
            </a:avLst>
          </a:prstGeom>
          <a:solidFill>
            <a:srgbClr val="FBE9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22960" y="46634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30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840480" y="46634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C030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B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48640" y="491947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0304A"/>
                </a:solidFill>
              </a:rPr>
              <a:t>↘        ↙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519379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30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 : A, B   ✗ NOT ALLOWED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5669280"/>
            <a:ext cx="5029200" cy="960120"/>
          </a:xfrm>
          <a:prstGeom prst="roundRect">
            <a:avLst>
              <a:gd name="adj" fmla="val 7619"/>
            </a:avLst>
          </a:prstGeom>
          <a:solidFill>
            <a:srgbClr val="E4F7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822960" y="57607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9D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IFlyable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57600" y="57607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F9D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ISwimmable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48640" y="601675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9D55"/>
                </a:solidFill>
              </a:rPr>
              <a:t>↘        ↙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629107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9D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FlyingFish : IFlyable, ISwimmable  ✓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897880" y="1325880"/>
            <a:ext cx="5742432" cy="4297680"/>
          </a:xfrm>
          <a:prstGeom prst="roundRect">
            <a:avLst>
              <a:gd name="adj" fmla="val 1702"/>
            </a:avLst>
          </a:prstGeom>
          <a:solidFill>
            <a:srgbClr val="1B1F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044184" y="1453896"/>
            <a:ext cx="64008" cy="6400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190488" y="1453896"/>
            <a:ext cx="64008" cy="6400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6336792" y="1453896"/>
            <a:ext cx="64008" cy="6400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099048" y="1636776"/>
            <a:ext cx="5340096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System;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IFlyable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Fly();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ISwimmable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Swim();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 class CAN implement multiple interfaces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FlyingFish : IFlyable, ISwimmable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Fly() =&gt;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Console.WriteLine("Flying fish flies!");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Swim() =&gt;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Console.WriteLine("Flying fish swims!");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Program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static void Main()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FlyingFish ff = new FlyingFish();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ff.Fly();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ff.Swim();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897880" y="5733288"/>
            <a:ext cx="5742432" cy="914400"/>
          </a:xfrm>
          <a:prstGeom prst="roundRect">
            <a:avLst>
              <a:gd name="adj" fmla="val 8000"/>
            </a:avLst>
          </a:prstGeom>
          <a:solidFill>
            <a:srgbClr val="0E10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062472" y="5852160"/>
            <a:ext cx="274320" cy="274320"/>
          </a:xfrm>
          <a:prstGeom prst="ellipse">
            <a:avLst/>
          </a:prstGeom>
          <a:solidFill>
            <a:srgbClr val="2A347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3795" y="5923483"/>
            <a:ext cx="131674" cy="131674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6409944" y="5852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C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172200" y="6190488"/>
            <a:ext cx="519379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7C9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Flying fish flies!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7C9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Flying fish swims!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Polymorphism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forms in C#: decided at compile time, or decided at run time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394960" cy="1280160"/>
          </a:xfrm>
          <a:prstGeom prst="roundRect">
            <a:avLst>
              <a:gd name="adj" fmla="val 7143"/>
            </a:avLst>
          </a:prstGeom>
          <a:solidFill>
            <a:srgbClr val="4A557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77240" y="150876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1627632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463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Compile-Time Polymorphism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77240" y="1892808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called static / early binding. The compiler decides which method to call, based on the method signature, before the program even runs.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263640" y="1325880"/>
            <a:ext cx="5394960" cy="1280160"/>
          </a:xfrm>
          <a:prstGeom prst="roundRect">
            <a:avLst>
              <a:gd name="adj" fmla="val 714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6492240" y="150876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1112" y="162763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86600" y="1463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Run-Time Polymorphism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492240" y="1892808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called dynamic / late binding. The actual method that runs is decided while the program executes, based on the object's real type.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548640" y="2679192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via: Method Overloading  •  Operator Overloading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263640" y="2679192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via: Method Overriding (virtual / override)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48640" y="3017520"/>
            <a:ext cx="5394960" cy="2971800"/>
          </a:xfrm>
          <a:prstGeom prst="roundRect">
            <a:avLst>
              <a:gd name="adj" fmla="val 2462"/>
            </a:avLst>
          </a:prstGeom>
          <a:solidFill>
            <a:srgbClr val="1B1F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694944" y="3145536"/>
            <a:ext cx="64008" cy="6400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4"/>
          <p:cNvSpPr/>
          <p:nvPr/>
        </p:nvSpPr>
        <p:spPr>
          <a:xfrm>
            <a:off x="841248" y="3145536"/>
            <a:ext cx="64008" cy="6400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5"/>
          <p:cNvSpPr/>
          <p:nvPr/>
        </p:nvSpPr>
        <p:spPr>
          <a:xfrm>
            <a:off x="987552" y="3145536"/>
            <a:ext cx="64008" cy="6400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6"/>
          <p:cNvSpPr/>
          <p:nvPr/>
        </p:nvSpPr>
        <p:spPr>
          <a:xfrm>
            <a:off x="749808" y="3328416"/>
            <a:ext cx="4992624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3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System;</a:t>
            </a:r>
            <a:endParaRPr lang="en-US" sz="93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3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Calculator</a:t>
            </a:r>
            <a:endParaRPr lang="en-US" sz="93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3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3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3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Same name, different parameters = overloading</a:t>
            </a:r>
            <a:endParaRPr lang="en-US" sz="93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3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int Add(int a, int b) =&gt; a + b;</a:t>
            </a:r>
            <a:endParaRPr lang="en-US" sz="93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3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double Add(double a, double b) =&gt; a + b;</a:t>
            </a:r>
            <a:endParaRPr lang="en-US" sz="93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3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int Add(int a, int b, int c) =&gt; a + b + c;</a:t>
            </a:r>
            <a:endParaRPr lang="en-US" sz="93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3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3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3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Program</a:t>
            </a:r>
            <a:endParaRPr lang="en-US" sz="93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3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3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3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static void Main()</a:t>
            </a:r>
            <a:endParaRPr lang="en-US" sz="93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3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3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3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Calculator calc = new Calculator();</a:t>
            </a:r>
            <a:endParaRPr lang="en-US" sz="93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3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Console.WriteLine(calc.Add(2, 3));</a:t>
            </a:r>
            <a:endParaRPr lang="en-US" sz="93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3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Console.WriteLine(calc.Add(2.5, 3.5));</a:t>
            </a:r>
            <a:endParaRPr lang="en-US" sz="93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3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Console.WriteLine(calc.Add(1, 2, 3));</a:t>
            </a:r>
            <a:endParaRPr lang="en-US" sz="93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3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3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3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30" dirty="0"/>
          </a:p>
        </p:txBody>
      </p:sp>
      <p:sp>
        <p:nvSpPr>
          <p:cNvPr id="21" name="Shape 17"/>
          <p:cNvSpPr/>
          <p:nvPr/>
        </p:nvSpPr>
        <p:spPr>
          <a:xfrm>
            <a:off x="6263640" y="3017520"/>
            <a:ext cx="5394960" cy="2971800"/>
          </a:xfrm>
          <a:prstGeom prst="roundRect">
            <a:avLst>
              <a:gd name="adj" fmla="val 2462"/>
            </a:avLst>
          </a:prstGeom>
          <a:solidFill>
            <a:srgbClr val="1B1F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18"/>
          <p:cNvSpPr/>
          <p:nvPr/>
        </p:nvSpPr>
        <p:spPr>
          <a:xfrm>
            <a:off x="6409944" y="3145536"/>
            <a:ext cx="64008" cy="6400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19"/>
          <p:cNvSpPr/>
          <p:nvPr/>
        </p:nvSpPr>
        <p:spPr>
          <a:xfrm>
            <a:off x="6556248" y="3145536"/>
            <a:ext cx="64008" cy="6400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0"/>
          <p:cNvSpPr/>
          <p:nvPr/>
        </p:nvSpPr>
        <p:spPr>
          <a:xfrm>
            <a:off x="6702552" y="3145536"/>
            <a:ext cx="64008" cy="6400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1"/>
          <p:cNvSpPr/>
          <p:nvPr/>
        </p:nvSpPr>
        <p:spPr>
          <a:xfrm>
            <a:off x="6464808" y="3328416"/>
            <a:ext cx="4992624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3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System;</a:t>
            </a:r>
            <a:endParaRPr lang="en-US" sz="93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3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Animal</a:t>
            </a:r>
            <a:endParaRPr lang="en-US" sz="93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3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3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3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virtual void Speak() =&gt;</a:t>
            </a:r>
            <a:endParaRPr lang="en-US" sz="93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3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Console.WriteLine("Animal makes a sound");</a:t>
            </a:r>
            <a:endParaRPr lang="en-US" sz="93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3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3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3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Cat : Animal</a:t>
            </a:r>
            <a:endParaRPr lang="en-US" sz="93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3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3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3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override void Speak() =&gt;</a:t>
            </a:r>
            <a:endParaRPr lang="en-US" sz="93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3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Console.WriteLine("Cat says Meow");</a:t>
            </a:r>
            <a:endParaRPr lang="en-US" sz="93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3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3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3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Program</a:t>
            </a:r>
            <a:endParaRPr lang="en-US" sz="93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3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3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3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static void Main()</a:t>
            </a:r>
            <a:endParaRPr lang="en-US" sz="93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3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3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3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Animal a = new Cat();</a:t>
            </a:r>
            <a:endParaRPr lang="en-US" sz="93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3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a.Speak();   // run-time decides -&gt; Cat's version</a:t>
            </a:r>
            <a:endParaRPr lang="en-US" sz="93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3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3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3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30" dirty="0"/>
          </a:p>
        </p:txBody>
      </p:sp>
      <p:sp>
        <p:nvSpPr>
          <p:cNvPr id="26" name="Shape 22"/>
          <p:cNvSpPr/>
          <p:nvPr/>
        </p:nvSpPr>
        <p:spPr>
          <a:xfrm>
            <a:off x="548640" y="6080760"/>
            <a:ext cx="5394960" cy="640080"/>
          </a:xfrm>
          <a:prstGeom prst="roundRect">
            <a:avLst>
              <a:gd name="adj" fmla="val 11429"/>
            </a:avLst>
          </a:prstGeom>
          <a:solidFill>
            <a:srgbClr val="0E10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3"/>
          <p:cNvSpPr/>
          <p:nvPr/>
        </p:nvSpPr>
        <p:spPr>
          <a:xfrm>
            <a:off x="822960" y="608076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7C9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 5    6    6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6263640" y="6080760"/>
            <a:ext cx="5394960" cy="640080"/>
          </a:xfrm>
          <a:prstGeom prst="roundRect">
            <a:avLst>
              <a:gd name="adj" fmla="val 11429"/>
            </a:avLst>
          </a:prstGeom>
          <a:solidFill>
            <a:srgbClr val="0E10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5"/>
          <p:cNvSpPr/>
          <p:nvPr/>
        </p:nvSpPr>
        <p:spPr>
          <a:xfrm>
            <a:off x="6537960" y="608076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7C9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 Cat says Meow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solidFill>
            <a:srgbClr val="141B4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463040" y="4572000"/>
            <a:ext cx="3291840" cy="3291840"/>
          </a:xfrm>
          <a:prstGeom prst="ellipse">
            <a:avLst/>
          </a:prstGeom>
          <a:solidFill>
            <a:srgbClr val="141B4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822960" cy="822960"/>
          </a:xfrm>
          <a:prstGeom prst="ellipse">
            <a:avLst/>
          </a:prstGeom>
          <a:solidFill>
            <a:srgbClr val="4F6B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930" y="2499970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3291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365760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Exception Handling in C#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822960" y="46177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/ Catch / Finally  •  Custom Exceptions</a:t>
            </a:r>
            <a:endParaRPr lang="en-US" sz="1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Try, Catch &amp; Finally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runtime errors gracefully instead of crashing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02920" cy="502920"/>
          </a:xfrm>
          <a:prstGeom prst="ellipse">
            <a:avLst/>
          </a:prstGeom>
          <a:solidFill>
            <a:srgbClr val="EEF1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" y="1456639"/>
            <a:ext cx="241402" cy="2414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344168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it?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1920240"/>
            <a:ext cx="4160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handling lets your program deal with runtime errors safely. Risky code goes in 'try', errors are handled in 'catch', and cleanup always happens in 'finally'.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301752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3355848"/>
            <a:ext cx="41605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wraps code that might throw an exception</a:t>
            </a:r>
            <a:endParaRPr lang="en-US" sz="103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handles a specific exception type; you can chain multiple catches, most specific type first</a:t>
            </a:r>
            <a:endParaRPr lang="en-US" sz="103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finally always runs — whether an exception occurred or not — ideal for cleanup</a:t>
            </a:r>
            <a:endParaRPr lang="en-US" sz="103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unhandled exception crashes the program</a:t>
            </a:r>
            <a:endParaRPr lang="en-US" sz="1030" dirty="0"/>
          </a:p>
        </p:txBody>
      </p:sp>
      <p:sp>
        <p:nvSpPr>
          <p:cNvPr id="10" name="Shape 7"/>
          <p:cNvSpPr/>
          <p:nvPr/>
        </p:nvSpPr>
        <p:spPr>
          <a:xfrm>
            <a:off x="548640" y="5806440"/>
            <a:ext cx="4160520" cy="914400"/>
          </a:xfrm>
          <a:prstGeom prst="roundRect">
            <a:avLst>
              <a:gd name="adj" fmla="val 10000"/>
            </a:avLst>
          </a:prstGeom>
          <a:solidFill>
            <a:srgbClr val="EEF1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731520" y="5806440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</a:t>
            </a:r>
            <a:r>
              <a:rPr lang="en-US" sz="105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circus act: try is the risky trick, catch is the safety net if it fails, and finally is the crew clearing the stage no matter what happened.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983480" y="1325880"/>
            <a:ext cx="6656832" cy="4251960"/>
          </a:xfrm>
          <a:prstGeom prst="roundRect">
            <a:avLst>
              <a:gd name="adj" fmla="val 1720"/>
            </a:avLst>
          </a:prstGeom>
          <a:solidFill>
            <a:srgbClr val="1B1F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5129784" y="1453896"/>
            <a:ext cx="64008" cy="6400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5276088" y="1453896"/>
            <a:ext cx="64008" cy="6400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5422392" y="1453896"/>
            <a:ext cx="64008" cy="6400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5184648" y="1636776"/>
            <a:ext cx="6254496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System;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Program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static void Main()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int[] numbers = { 1, 2, 3 };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try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Console.WriteLine(numbers[5]);  // throws!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catch (IndexOutOfRangeException ex)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Console.WriteLine($"Error: {ex.Message}");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catch (Exception ex)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Console.WriteLine($"Unexpected: {ex.Message}");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finally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Console.WriteLine("Cleanup done.");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70" dirty="0"/>
          </a:p>
        </p:txBody>
      </p:sp>
      <p:sp>
        <p:nvSpPr>
          <p:cNvPr id="17" name="Shape 14"/>
          <p:cNvSpPr/>
          <p:nvPr/>
        </p:nvSpPr>
        <p:spPr>
          <a:xfrm>
            <a:off x="10222992" y="1408176"/>
            <a:ext cx="256032" cy="256032"/>
          </a:xfrm>
          <a:prstGeom prst="ellipse">
            <a:avLst/>
          </a:prstGeom>
          <a:solidFill>
            <a:srgbClr val="1B1F3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9560" y="1474744"/>
            <a:ext cx="122895" cy="122895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9491472" y="1380744"/>
            <a:ext cx="1508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Runnable — copy, paste, and run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4983480" y="5650992"/>
            <a:ext cx="6656832" cy="1005840"/>
          </a:xfrm>
          <a:prstGeom prst="roundRect">
            <a:avLst>
              <a:gd name="adj" fmla="val 7273"/>
            </a:avLst>
          </a:prstGeom>
          <a:solidFill>
            <a:srgbClr val="0E10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7"/>
          <p:cNvSpPr/>
          <p:nvPr/>
        </p:nvSpPr>
        <p:spPr>
          <a:xfrm>
            <a:off x="5148072" y="5769864"/>
            <a:ext cx="274320" cy="274320"/>
          </a:xfrm>
          <a:prstGeom prst="ellipse">
            <a:avLst/>
          </a:prstGeom>
          <a:solidFill>
            <a:srgbClr val="2A347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9395" y="5841187"/>
            <a:ext cx="131674" cy="13167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495544" y="576986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C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5257800" y="6108192"/>
            <a:ext cx="610819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7C9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Error: Index was outside the bounds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7C9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 the array.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7C9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Cleanup done.</a:t>
            </a:r>
            <a:endParaRPr lang="en-US" sz="10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 Exceptions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your errors clear, domain-specific meaning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02920" cy="502920"/>
          </a:xfrm>
          <a:prstGeom prst="ellipse">
            <a:avLst/>
          </a:prstGeom>
          <a:solidFill>
            <a:srgbClr val="EEF1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" y="1456639"/>
            <a:ext cx="241402" cy="2414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344168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it?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1920240"/>
            <a:ext cx="4160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define your own exception types by inheriting from Exception, so error conditions in your app are self-explanatory instead of generic.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301752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3355848"/>
            <a:ext cx="41605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class that inherits from Exception (or a subclass of it)</a:t>
            </a:r>
            <a:endParaRPr lang="en-US" sz="103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call base(message) to populate the standard Message property</a:t>
            </a:r>
            <a:endParaRPr lang="en-US" sz="103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extra properties/constructors if the error needs more context</a:t>
            </a:r>
            <a:endParaRPr lang="en-US" sz="103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 it with 'throw new ...' and catch it just like any built-in exception</a:t>
            </a:r>
            <a:endParaRPr lang="en-US" sz="1030" dirty="0"/>
          </a:p>
        </p:txBody>
      </p:sp>
      <p:sp>
        <p:nvSpPr>
          <p:cNvPr id="10" name="Shape 7"/>
          <p:cNvSpPr/>
          <p:nvPr/>
        </p:nvSpPr>
        <p:spPr>
          <a:xfrm>
            <a:off x="548640" y="5806440"/>
            <a:ext cx="4160520" cy="914400"/>
          </a:xfrm>
          <a:prstGeom prst="roundRect">
            <a:avLst>
              <a:gd name="adj" fmla="val 10000"/>
            </a:avLst>
          </a:prstGeom>
          <a:solidFill>
            <a:srgbClr val="EEF1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731520" y="5806440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</a:t>
            </a:r>
            <a:r>
              <a:rPr lang="en-US" sz="105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generic ‘Error’ sign tells you something's wrong; a sign reading ‘Insufficient Funds’ tells you exactly what and why.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983480" y="1325880"/>
            <a:ext cx="6656832" cy="4251960"/>
          </a:xfrm>
          <a:prstGeom prst="roundRect">
            <a:avLst>
              <a:gd name="adj" fmla="val 1720"/>
            </a:avLst>
          </a:prstGeom>
          <a:solidFill>
            <a:srgbClr val="1B1F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5129784" y="1453896"/>
            <a:ext cx="64008" cy="6400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5276088" y="1453896"/>
            <a:ext cx="64008" cy="6400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5422392" y="1453896"/>
            <a:ext cx="64008" cy="6400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5184648" y="1636776"/>
            <a:ext cx="6254496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System;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InsufficientFundsException : Exception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InsufficientFundsException(string msg)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: base(msg) { }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BankAccount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double Balance = 100;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Withdraw(double amount)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(amount &gt; Balance)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throw new InsufficientFundsException("Not enough balance!");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Balance -= amount;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Program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static void Main()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BankAccount acc = new BankAccount();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try { acc.Withdraw(500); }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catch (InsufficientFundsException ex)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Console.WriteLine($"Failed: {ex.Message}");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70" dirty="0"/>
          </a:p>
        </p:txBody>
      </p:sp>
      <p:sp>
        <p:nvSpPr>
          <p:cNvPr id="17" name="Shape 14"/>
          <p:cNvSpPr/>
          <p:nvPr/>
        </p:nvSpPr>
        <p:spPr>
          <a:xfrm>
            <a:off x="10222992" y="1408176"/>
            <a:ext cx="256032" cy="256032"/>
          </a:xfrm>
          <a:prstGeom prst="ellipse">
            <a:avLst/>
          </a:prstGeom>
          <a:solidFill>
            <a:srgbClr val="1B1F3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9560" y="1474744"/>
            <a:ext cx="122895" cy="122895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9491472" y="1380744"/>
            <a:ext cx="1508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Runnable — copy, paste, and run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4983480" y="5650992"/>
            <a:ext cx="6656832" cy="1005840"/>
          </a:xfrm>
          <a:prstGeom prst="roundRect">
            <a:avLst>
              <a:gd name="adj" fmla="val 7273"/>
            </a:avLst>
          </a:prstGeom>
          <a:solidFill>
            <a:srgbClr val="0E10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7"/>
          <p:cNvSpPr/>
          <p:nvPr/>
        </p:nvSpPr>
        <p:spPr>
          <a:xfrm>
            <a:off x="5148072" y="5769864"/>
            <a:ext cx="274320" cy="274320"/>
          </a:xfrm>
          <a:prstGeom prst="ellipse">
            <a:avLst/>
          </a:prstGeom>
          <a:solidFill>
            <a:srgbClr val="2A347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9395" y="5841187"/>
            <a:ext cx="131674" cy="13167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495544" y="576986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C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5257800" y="6108192"/>
            <a:ext cx="610819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7C9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Failed: Not enough balance!</a:t>
            </a:r>
            <a:endParaRPr lang="en-US" sz="10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solidFill>
            <a:srgbClr val="141B4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463040" y="4572000"/>
            <a:ext cx="3291840" cy="3291840"/>
          </a:xfrm>
          <a:prstGeom prst="ellipse">
            <a:avLst/>
          </a:prstGeom>
          <a:solidFill>
            <a:srgbClr val="141B4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822960" cy="822960"/>
          </a:xfrm>
          <a:prstGeom prst="ellipse">
            <a:avLst/>
          </a:prstGeom>
          <a:solidFill>
            <a:srgbClr val="4F6B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930" y="2499970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3291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365760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Collections in C#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822960" y="4617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 •  List&lt;T&gt;  •  Dictionary&lt;TKey,TValue&gt;  •  IEnumerable</a:t>
            </a:r>
            <a:endParaRPr lang="en-US" sz="15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fixed-size, indexed collection of same-type elements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02920" cy="502920"/>
          </a:xfrm>
          <a:prstGeom prst="ellipse">
            <a:avLst/>
          </a:prstGeom>
          <a:solidFill>
            <a:srgbClr val="EEF1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" y="1456639"/>
            <a:ext cx="241402" cy="2414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344168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it?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1920240"/>
            <a:ext cx="4160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array stores a fixed number of elements of the same type in contiguous memory, accessed by a zero-based index.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301752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3355848"/>
            <a:ext cx="41605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is fixed once created — it cannot grow or shrink</a:t>
            </a:r>
            <a:endParaRPr lang="en-US" sz="103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Index-based access is extremely fast: O(1)</a:t>
            </a:r>
            <a:endParaRPr lang="en-US" sz="103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Declared as type[] name, e.g. int[] scores</a:t>
            </a:r>
            <a:endParaRPr lang="en-US" sz="103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also supports multi-dimensional and jagged arrays</a:t>
            </a:r>
            <a:endParaRPr lang="en-US" sz="1030" dirty="0"/>
          </a:p>
        </p:txBody>
      </p:sp>
      <p:sp>
        <p:nvSpPr>
          <p:cNvPr id="10" name="Shape 7"/>
          <p:cNvSpPr/>
          <p:nvPr/>
        </p:nvSpPr>
        <p:spPr>
          <a:xfrm>
            <a:off x="548640" y="5806440"/>
            <a:ext cx="4160520" cy="914400"/>
          </a:xfrm>
          <a:prstGeom prst="roundRect">
            <a:avLst>
              <a:gd name="adj" fmla="val 10000"/>
            </a:avLst>
          </a:prstGeom>
          <a:solidFill>
            <a:srgbClr val="EEF1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731520" y="5806440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</a:t>
            </a:r>
            <a:r>
              <a:rPr lang="en-US" sz="105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array is like a row of numbered lockers — a fixed count, with instant access if you know the locker number.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983480" y="1325880"/>
            <a:ext cx="6656832" cy="4251960"/>
          </a:xfrm>
          <a:prstGeom prst="roundRect">
            <a:avLst>
              <a:gd name="adj" fmla="val 1720"/>
            </a:avLst>
          </a:prstGeom>
          <a:solidFill>
            <a:srgbClr val="1B1F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5129784" y="1453896"/>
            <a:ext cx="64008" cy="6400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5276088" y="1453896"/>
            <a:ext cx="64008" cy="6400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5422392" y="1453896"/>
            <a:ext cx="64008" cy="6400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5184648" y="1636776"/>
            <a:ext cx="6254496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System;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Program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static void Main()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int[] scores = { 90, 85, 77, 92 };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Console.WriteLine(scores[0]);     // access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scores[1] = 88;                   // update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Console.WriteLine(scores.Length); // size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foreach (int s in scores)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Console.WriteLine(s);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70" dirty="0"/>
          </a:p>
        </p:txBody>
      </p:sp>
      <p:sp>
        <p:nvSpPr>
          <p:cNvPr id="17" name="Shape 14"/>
          <p:cNvSpPr/>
          <p:nvPr/>
        </p:nvSpPr>
        <p:spPr>
          <a:xfrm>
            <a:off x="10222992" y="1408176"/>
            <a:ext cx="256032" cy="256032"/>
          </a:xfrm>
          <a:prstGeom prst="ellipse">
            <a:avLst/>
          </a:prstGeom>
          <a:solidFill>
            <a:srgbClr val="1B1F3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9560" y="1474744"/>
            <a:ext cx="122895" cy="122895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9491472" y="1380744"/>
            <a:ext cx="1508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Runnable — copy, paste, and run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4983480" y="5650992"/>
            <a:ext cx="6656832" cy="1005840"/>
          </a:xfrm>
          <a:prstGeom prst="roundRect">
            <a:avLst>
              <a:gd name="adj" fmla="val 7273"/>
            </a:avLst>
          </a:prstGeom>
          <a:solidFill>
            <a:srgbClr val="0E10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7"/>
          <p:cNvSpPr/>
          <p:nvPr/>
        </p:nvSpPr>
        <p:spPr>
          <a:xfrm>
            <a:off x="5148072" y="5769864"/>
            <a:ext cx="274320" cy="274320"/>
          </a:xfrm>
          <a:prstGeom prst="ellipse">
            <a:avLst/>
          </a:prstGeom>
          <a:solidFill>
            <a:srgbClr val="2A347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9395" y="5841187"/>
            <a:ext cx="131674" cy="13167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495544" y="576986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C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5257800" y="6108192"/>
            <a:ext cx="610819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7C9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7C9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7C9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7C9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88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7C9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77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7C9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92</a:t>
            </a:r>
            <a:endParaRPr lang="en-US" sz="10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List&lt;T&gt;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collection that grows and shrinks as you need it 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02920" cy="502920"/>
          </a:xfrm>
          <a:prstGeom prst="ellipse">
            <a:avLst/>
          </a:prstGeom>
          <a:solidFill>
            <a:srgbClr val="EEF1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" y="1456639"/>
            <a:ext cx="241402" cy="2414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344168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it?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1920240"/>
            <a:ext cx="4160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List&lt;T&gt; (from System.Collections.Generic) is a dynamically resizable collection — no need to declare a size up front.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301752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3355848"/>
            <a:ext cx="41605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resizes as items are added or removed</a:t>
            </a:r>
            <a:endParaRPr lang="en-US" sz="103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built-in methods: Add, Remove, Contains, Sort, Find...</a:t>
            </a:r>
            <a:endParaRPr lang="en-US" sz="103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Strongly typed via the generic &lt;T&gt; — type-safe at compile time</a:t>
            </a:r>
            <a:endParaRPr lang="en-US" sz="103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default choice when you don't know the size ahead of time</a:t>
            </a:r>
            <a:endParaRPr lang="en-US" sz="1030" dirty="0"/>
          </a:p>
        </p:txBody>
      </p:sp>
      <p:sp>
        <p:nvSpPr>
          <p:cNvPr id="10" name="Shape 7"/>
          <p:cNvSpPr/>
          <p:nvPr/>
        </p:nvSpPr>
        <p:spPr>
          <a:xfrm>
            <a:off x="548640" y="5806440"/>
            <a:ext cx="4160520" cy="914400"/>
          </a:xfrm>
          <a:prstGeom prst="roundRect">
            <a:avLst>
              <a:gd name="adj" fmla="val 10000"/>
            </a:avLst>
          </a:prstGeom>
          <a:solidFill>
            <a:srgbClr val="EEF1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731520" y="5806440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</a:t>
            </a:r>
            <a:r>
              <a:rPr lang="en-US" sz="105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 is like a shopping list — you keep adding items or crossing them off, unlike a fixed row of lockers.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983480" y="1325880"/>
            <a:ext cx="6656832" cy="4251960"/>
          </a:xfrm>
          <a:prstGeom prst="roundRect">
            <a:avLst>
              <a:gd name="adj" fmla="val 1720"/>
            </a:avLst>
          </a:prstGeom>
          <a:solidFill>
            <a:srgbClr val="1B1F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5129784" y="1453896"/>
            <a:ext cx="64008" cy="6400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5276088" y="1453896"/>
            <a:ext cx="64008" cy="6400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5422392" y="1453896"/>
            <a:ext cx="64008" cy="6400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5184648" y="1636776"/>
            <a:ext cx="6254496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System;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System.Collections.Generic;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Program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static void Main()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List&lt;string&gt; names = new List&lt;string&gt;();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names.Add("Alice");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names.Add("Bob");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names.Remove("Alice");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names.Add("Charlie");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foreach (string name in names)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Console.WriteLine(name);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Console.WriteLine($"Count: {names.Count}");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70" dirty="0"/>
          </a:p>
        </p:txBody>
      </p:sp>
      <p:sp>
        <p:nvSpPr>
          <p:cNvPr id="17" name="Shape 14"/>
          <p:cNvSpPr/>
          <p:nvPr/>
        </p:nvSpPr>
        <p:spPr>
          <a:xfrm>
            <a:off x="10222992" y="1408176"/>
            <a:ext cx="256032" cy="256032"/>
          </a:xfrm>
          <a:prstGeom prst="ellipse">
            <a:avLst/>
          </a:prstGeom>
          <a:solidFill>
            <a:srgbClr val="1B1F3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9560" y="1474744"/>
            <a:ext cx="122895" cy="122895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9491472" y="1380744"/>
            <a:ext cx="1508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Runnable — copy, paste, and run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4983480" y="5650992"/>
            <a:ext cx="6656832" cy="1005840"/>
          </a:xfrm>
          <a:prstGeom prst="roundRect">
            <a:avLst>
              <a:gd name="adj" fmla="val 7273"/>
            </a:avLst>
          </a:prstGeom>
          <a:solidFill>
            <a:srgbClr val="0E10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7"/>
          <p:cNvSpPr/>
          <p:nvPr/>
        </p:nvSpPr>
        <p:spPr>
          <a:xfrm>
            <a:off x="5148072" y="5769864"/>
            <a:ext cx="274320" cy="274320"/>
          </a:xfrm>
          <a:prstGeom prst="ellipse">
            <a:avLst/>
          </a:prstGeom>
          <a:solidFill>
            <a:srgbClr val="2A347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9395" y="5841187"/>
            <a:ext cx="131674" cy="13167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495544" y="576986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C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5257800" y="6108192"/>
            <a:ext cx="610819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7C9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Bob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7C9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Charlie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7C9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Count: 2</a:t>
            </a:r>
            <a:endParaRPr lang="en-US" sz="10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Dictionary&lt;TKey, TValue&gt;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lookup of a value using a unique key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02920" cy="502920"/>
          </a:xfrm>
          <a:prstGeom prst="ellipse">
            <a:avLst/>
          </a:prstGeom>
          <a:solidFill>
            <a:srgbClr val="EEF1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" y="1456639"/>
            <a:ext cx="241402" cy="2414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344168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it?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1920240"/>
            <a:ext cx="4160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Dictionary stores data as key-value pairs, giving near-instant lookup, insert, and delete by key instead of scanning every item.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301752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3355848"/>
            <a:ext cx="41605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key must be unique; values can repeat</a:t>
            </a:r>
            <a:endParaRPr lang="en-US" sz="103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 by key is close to O(1) on average</a:t>
            </a:r>
            <a:endParaRPr lang="en-US" sz="103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Declared as Dictionary&lt;TKey, TValue&gt;</a:t>
            </a:r>
            <a:endParaRPr lang="en-US" sz="103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with foreach over KeyValuePair&lt;TKey, TValue&gt; entries</a:t>
            </a:r>
            <a:endParaRPr lang="en-US" sz="1030" dirty="0"/>
          </a:p>
        </p:txBody>
      </p:sp>
      <p:sp>
        <p:nvSpPr>
          <p:cNvPr id="10" name="Shape 7"/>
          <p:cNvSpPr/>
          <p:nvPr/>
        </p:nvSpPr>
        <p:spPr>
          <a:xfrm>
            <a:off x="548640" y="5806440"/>
            <a:ext cx="4160520" cy="914400"/>
          </a:xfrm>
          <a:prstGeom prst="roundRect">
            <a:avLst>
              <a:gd name="adj" fmla="val 10000"/>
            </a:avLst>
          </a:prstGeom>
          <a:solidFill>
            <a:srgbClr val="EEF1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731520" y="5806440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</a:t>
            </a:r>
            <a:r>
              <a:rPr lang="en-US" sz="105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phone book — you look up a name (key) to instantly get a number (value), instead of scanning every entry.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983480" y="1325880"/>
            <a:ext cx="6656832" cy="4251960"/>
          </a:xfrm>
          <a:prstGeom prst="roundRect">
            <a:avLst>
              <a:gd name="adj" fmla="val 1720"/>
            </a:avLst>
          </a:prstGeom>
          <a:solidFill>
            <a:srgbClr val="1B1F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5129784" y="1453896"/>
            <a:ext cx="64008" cy="6400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5276088" y="1453896"/>
            <a:ext cx="64008" cy="6400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5422392" y="1453896"/>
            <a:ext cx="64008" cy="6400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5184648" y="1636776"/>
            <a:ext cx="6254496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System;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System.Collections.Generic;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Program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static void Main()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var ages = new Dictionary&lt;string, int&gt;();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ages["Alice"] = 30;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ages["Bob"] = 25;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ages.Add("Charlie", 35);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Console.WriteLine(ages["Bob"]);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foreach (var pair in ages)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Console.WriteLine($"{pair.Key} is {pair.Value}");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70" dirty="0"/>
          </a:p>
        </p:txBody>
      </p:sp>
      <p:sp>
        <p:nvSpPr>
          <p:cNvPr id="17" name="Shape 14"/>
          <p:cNvSpPr/>
          <p:nvPr/>
        </p:nvSpPr>
        <p:spPr>
          <a:xfrm>
            <a:off x="10222992" y="1408176"/>
            <a:ext cx="256032" cy="256032"/>
          </a:xfrm>
          <a:prstGeom prst="ellipse">
            <a:avLst/>
          </a:prstGeom>
          <a:solidFill>
            <a:srgbClr val="1B1F3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9560" y="1474744"/>
            <a:ext cx="122895" cy="122895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9491472" y="1380744"/>
            <a:ext cx="1508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Runnable — copy, paste, and run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4983480" y="5650992"/>
            <a:ext cx="6656832" cy="1005840"/>
          </a:xfrm>
          <a:prstGeom prst="roundRect">
            <a:avLst>
              <a:gd name="adj" fmla="val 7273"/>
            </a:avLst>
          </a:prstGeom>
          <a:solidFill>
            <a:srgbClr val="0E10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7"/>
          <p:cNvSpPr/>
          <p:nvPr/>
        </p:nvSpPr>
        <p:spPr>
          <a:xfrm>
            <a:off x="5148072" y="5769864"/>
            <a:ext cx="274320" cy="274320"/>
          </a:xfrm>
          <a:prstGeom prst="ellipse">
            <a:avLst/>
          </a:prstGeom>
          <a:solidFill>
            <a:srgbClr val="2A347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9395" y="5841187"/>
            <a:ext cx="131674" cy="13167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495544" y="576986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C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5257800" y="6108192"/>
            <a:ext cx="610819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7C9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7C9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Alice is 30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7C9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Bob is 25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7C9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Charlie is 35</a:t>
            </a:r>
            <a:endParaRPr lang="en-US" sz="10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IEnumerable&lt;T&gt;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interface that makes foreach — and LINQ — possible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02920" cy="502920"/>
          </a:xfrm>
          <a:prstGeom prst="ellipse">
            <a:avLst/>
          </a:prstGeom>
          <a:solidFill>
            <a:srgbClr val="EEF1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" y="1456639"/>
            <a:ext cx="241402" cy="2414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344168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it?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1920240"/>
            <a:ext cx="4160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IEnumerable&lt;T&gt; represents any sequence that can be iterated with foreach. Arrays, List&lt;T&gt;, and Dictionary all implement it under the hood.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301752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3355848"/>
            <a:ext cx="41605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one core method: GetEnumerator()</a:t>
            </a:r>
            <a:endParaRPr lang="en-US" sz="103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foreach work identically over any collection type</a:t>
            </a:r>
            <a:endParaRPr lang="en-US" sz="103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 LINQ is built on — Where, Select, etc. all take IEnumerable&lt;T&gt;</a:t>
            </a:r>
            <a:endParaRPr lang="en-US" sz="103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lazy evaluation via 'yield return' — items are produced on demand</a:t>
            </a:r>
            <a:endParaRPr lang="en-US" sz="1030" dirty="0"/>
          </a:p>
        </p:txBody>
      </p:sp>
      <p:sp>
        <p:nvSpPr>
          <p:cNvPr id="10" name="Shape 7"/>
          <p:cNvSpPr/>
          <p:nvPr/>
        </p:nvSpPr>
        <p:spPr>
          <a:xfrm>
            <a:off x="548640" y="5806440"/>
            <a:ext cx="4160520" cy="914400"/>
          </a:xfrm>
          <a:prstGeom prst="roundRect">
            <a:avLst>
              <a:gd name="adj" fmla="val 10000"/>
            </a:avLst>
          </a:prstGeom>
          <a:solidFill>
            <a:srgbClr val="EEF1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731520" y="5806440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</a:t>
            </a:r>
            <a:r>
              <a:rPr lang="en-US" sz="105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IEnumerable is like a remote's ‘next’ button — it doesn't care what's playing, it just knows how to move to the next item.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983480" y="1325880"/>
            <a:ext cx="6656832" cy="4251960"/>
          </a:xfrm>
          <a:prstGeom prst="roundRect">
            <a:avLst>
              <a:gd name="adj" fmla="val 1720"/>
            </a:avLst>
          </a:prstGeom>
          <a:solidFill>
            <a:srgbClr val="1B1F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5129784" y="1453896"/>
            <a:ext cx="64008" cy="6400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5276088" y="1453896"/>
            <a:ext cx="64008" cy="6400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5422392" y="1453896"/>
            <a:ext cx="64008" cy="6400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5184648" y="1636776"/>
            <a:ext cx="6254496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System;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System.Collections.Generic;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Program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static IEnumerable&lt;int&gt; GetEvenNumbers(int max)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(int i = 0; i &lt;= max; i += 2)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yield return i;   // produced one at a time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static void Main()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IEnumerable&lt;int&gt; evens = GetEvenNumbers(10);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foreach (int n in evens)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Console.WriteLine(n);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7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970" dirty="0">
                <a:solidFill>
                  <a:srgbClr val="D9D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70" dirty="0"/>
          </a:p>
        </p:txBody>
      </p:sp>
      <p:sp>
        <p:nvSpPr>
          <p:cNvPr id="17" name="Shape 14"/>
          <p:cNvSpPr/>
          <p:nvPr/>
        </p:nvSpPr>
        <p:spPr>
          <a:xfrm>
            <a:off x="10222992" y="1408176"/>
            <a:ext cx="256032" cy="256032"/>
          </a:xfrm>
          <a:prstGeom prst="ellipse">
            <a:avLst/>
          </a:prstGeom>
          <a:solidFill>
            <a:srgbClr val="1B1F3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9560" y="1474744"/>
            <a:ext cx="122895" cy="122895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9491472" y="1380744"/>
            <a:ext cx="1508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Runnable — copy, paste, and run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4983480" y="5650992"/>
            <a:ext cx="6656832" cy="1005840"/>
          </a:xfrm>
          <a:prstGeom prst="roundRect">
            <a:avLst>
              <a:gd name="adj" fmla="val 7273"/>
            </a:avLst>
          </a:prstGeom>
          <a:solidFill>
            <a:srgbClr val="0E10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7"/>
          <p:cNvSpPr/>
          <p:nvPr/>
        </p:nvSpPr>
        <p:spPr>
          <a:xfrm>
            <a:off x="5148072" y="5769864"/>
            <a:ext cx="274320" cy="274320"/>
          </a:xfrm>
          <a:prstGeom prst="ellipse">
            <a:avLst/>
          </a:prstGeom>
          <a:solidFill>
            <a:srgbClr val="2A347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9395" y="5841187"/>
            <a:ext cx="131674" cy="13167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495544" y="576986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C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5257800" y="6108192"/>
            <a:ext cx="610819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7C9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7C9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7C9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7C9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7C9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7C9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114800" cy="4114800"/>
          </a:xfrm>
          <a:prstGeom prst="ellipse">
            <a:avLst/>
          </a:prstGeom>
          <a:solidFill>
            <a:srgbClr val="141B4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241280" y="4114800"/>
            <a:ext cx="3840480" cy="3840480"/>
          </a:xfrm>
          <a:prstGeom prst="ellipse">
            <a:avLst/>
          </a:prstGeom>
          <a:solidFill>
            <a:srgbClr val="141B4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22960" y="822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1371600"/>
            <a:ext cx="10515600" cy="1828800"/>
          </a:xfrm>
          <a:prstGeom prst="roundRect">
            <a:avLst>
              <a:gd name="adj" fmla="val 6000"/>
            </a:avLst>
          </a:prstGeom>
          <a:solidFill>
            <a:srgbClr val="141B4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371600" y="1371600"/>
            <a:ext cx="9601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“.NET is a free, open-source, cross-platform platform for building modern applications — providing the languages, libraries, and runtime needed to write code once and run it almost anywhere.”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3566160"/>
            <a:ext cx="365760" cy="365760"/>
          </a:xfrm>
          <a:prstGeom prst="ellipse">
            <a:avLst/>
          </a:prstGeom>
          <a:solidFill>
            <a:srgbClr val="4F6B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058" y="3661258"/>
            <a:ext cx="175565" cy="17556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352044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 (C#, F#, VB.NET) + Libraries (BCL) + Runtime (CLR)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22960" y="4133088"/>
            <a:ext cx="365760" cy="365760"/>
          </a:xfrm>
          <a:prstGeom prst="ellipse">
            <a:avLst/>
          </a:prstGeom>
          <a:solidFill>
            <a:srgbClr val="4F6B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058" y="4228186"/>
            <a:ext cx="175565" cy="1755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4087368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compiles to IL, then JIT-compiles to native code — enabling cross-platform execution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822960" y="4700016"/>
            <a:ext cx="365760" cy="365760"/>
          </a:xfrm>
          <a:prstGeom prst="ellipse">
            <a:avLst/>
          </a:prstGeom>
          <a:solidFill>
            <a:srgbClr val="4F6B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058" y="4795114"/>
            <a:ext cx="175565" cy="17556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4654296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Evolved from Windows-only .NET Framework to modern, unified, cross-platform .NET (5+)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822960" y="5266944"/>
            <a:ext cx="365760" cy="365760"/>
          </a:xfrm>
          <a:prstGeom prst="ellipse">
            <a:avLst/>
          </a:prstGeom>
          <a:solidFill>
            <a:srgbClr val="4F6B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058" y="5362042"/>
            <a:ext cx="175565" cy="17556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71600" y="5221224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web, mobile, desktop, cloud, gaming, and AI/ML applications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822960" y="6126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 Questions?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661C8FE3B2EA0438B2EE88DFEE900D6" ma:contentTypeVersion="18" ma:contentTypeDescription="Create a new document." ma:contentTypeScope="" ma:versionID="fa4a6340be8647a6d43fbc6216423a9c">
  <xsd:schema xmlns:xsd="http://www.w3.org/2001/XMLSchema" xmlns:xs="http://www.w3.org/2001/XMLSchema" xmlns:p="http://schemas.microsoft.com/office/2006/metadata/properties" xmlns:ns3="16863908-f8b2-4c46-8b37-2e7f3c6e7de3" xmlns:ns4="c22fee3b-6bba-4914-b692-234fc77b3601" targetNamespace="http://schemas.microsoft.com/office/2006/metadata/properties" ma:root="true" ma:fieldsID="cf2bbc477fcce2a2cc17eaa4875ed679" ns3:_="" ns4:_="">
    <xsd:import namespace="16863908-f8b2-4c46-8b37-2e7f3c6e7de3"/>
    <xsd:import namespace="c22fee3b-6bba-4914-b692-234fc77b3601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DateTaken" minOccurs="0"/>
                <xsd:element ref="ns4:MediaServiceLocation" minOccurs="0"/>
                <xsd:element ref="ns4:MediaServiceAutoKeyPoints" minOccurs="0"/>
                <xsd:element ref="ns4:MediaServiceKeyPoints" minOccurs="0"/>
                <xsd:element ref="ns4:MediaLengthInSeconds" minOccurs="0"/>
                <xsd:element ref="ns4:_activity" minOccurs="0"/>
                <xsd:element ref="ns4:MediaServiceObjectDetectorVersions" minOccurs="0"/>
                <xsd:element ref="ns4:MediaServiceSystemTags" minOccurs="0"/>
                <xsd:element ref="ns4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863908-f8b2-4c46-8b37-2e7f3c6e7de3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22fee3b-6bba-4914-b692-234fc77b360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22fee3b-6bba-4914-b692-234fc77b3601" xsi:nil="true"/>
  </documentManagement>
</p:properties>
</file>

<file path=customXml/itemProps1.xml><?xml version="1.0" encoding="utf-8"?>
<ds:datastoreItem xmlns:ds="http://schemas.openxmlformats.org/officeDocument/2006/customXml" ds:itemID="{55EEF008-C1C6-4DA9-BC31-6C7344C9DD1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C92FF09-BE5A-4BA4-936B-A1EF1CCD29B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6863908-f8b2-4c46-8b37-2e7f3c6e7de3"/>
    <ds:schemaRef ds:uri="c22fee3b-6bba-4914-b692-234fc77b360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0AC7D21-6CB0-4C22-9433-A45D4D3B76EC}">
  <ds:schemaRefs>
    <ds:schemaRef ds:uri="http://www.w3.org/XML/1998/namespace"/>
    <ds:schemaRef ds:uri="http://schemas.microsoft.com/office/infopath/2007/PartnerControls"/>
    <ds:schemaRef ds:uri="16863908-f8b2-4c46-8b37-2e7f3c6e7de3"/>
    <ds:schemaRef ds:uri="http://schemas.microsoft.com/office/2006/documentManagement/types"/>
    <ds:schemaRef ds:uri="http://schemas.openxmlformats.org/package/2006/metadata/core-properties"/>
    <ds:schemaRef ds:uri="http://purl.org/dc/terms/"/>
    <ds:schemaRef ds:uri="http://purl.org/dc/dcmitype/"/>
    <ds:schemaRef ds:uri="c22fee3b-6bba-4914-b692-234fc77b3601"/>
    <ds:schemaRef ds:uri="http://schemas.microsoft.com/office/2006/metadata/properties"/>
    <ds:schemaRef ds:uri="http://purl.org/dc/elements/1.1/"/>
  </ds:schemaRefs>
</ds:datastoreItem>
</file>

<file path=docMetadata/LabelInfo.xml><?xml version="1.0" encoding="utf-8"?>
<clbl:labelList xmlns:clbl="http://schemas.microsoft.com/office/2020/mipLabelMetadata">
  <clbl:label id="{13085c86-4bcb-460a-a6f0-b373421c6323}" enabled="0" method="" siteId="{13085c86-4bcb-460a-a6f0-b373421c6323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6364</Words>
  <Application>Microsoft Office PowerPoint</Application>
  <PresentationFormat>Widescreen</PresentationFormat>
  <Paragraphs>1047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4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.NET</dc:title>
  <dc:subject>PptxGenJS Presentation</dc:subject>
  <dc:creator>Trainee</dc:creator>
  <cp:lastModifiedBy>Sibibharathi Thangaraj</cp:lastModifiedBy>
  <cp:revision>2</cp:revision>
  <dcterms:created xsi:type="dcterms:W3CDTF">2026-07-06T04:34:43Z</dcterms:created>
  <dcterms:modified xsi:type="dcterms:W3CDTF">2026-07-24T09:35:39Z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0x0101006661C8FE3B2EA0438B2EE88DFEE900D6</vt:lpwstr>
  </property>
</Properties>
</file>