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6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D1337C-20E1-4F7F-A8A7-9D40D559A447}" v="2" dt="2026-07-08T10:57:07.1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4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4489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743C3-2897-EE2A-3F79-17CED6A67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CA2033-C43B-5991-2604-66C1B7A174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D948C5-36FD-9BC8-85BB-A05EF735F6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C4B8B-2D76-D1A7-9E5F-D514A15A75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057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4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4.png"/><Relationship Id="rId4" Type="http://schemas.openxmlformats.org/officeDocument/2006/relationships/image" Target="../media/image22.png"/><Relationship Id="rId9" Type="http://schemas.openxmlformats.org/officeDocument/2006/relationships/image" Target="../media/image25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82296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TRAINING SERIES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ASP.NET Core Web API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22960" y="3794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Training Guide for Freshers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68680" y="4526280"/>
            <a:ext cx="2011680" cy="0"/>
          </a:xfrm>
          <a:prstGeom prst="line">
            <a:avLst/>
          </a:prstGeom>
          <a:noFill/>
          <a:ln w="3175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22960" y="60350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Software Trainee  |  Module: Backend Development with 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/>
          <a:effectLst>
            <a:outerShdw blurRad="101600" dist="38100" dir="27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13232" y="17099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3D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520440" y="176479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876" y="1824228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20574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API &amp; REST Fundamentals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160020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/>
          <a:effectLst>
            <a:outerShdw blurRad="101600" dist="38100" dir="27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553712" y="17099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3D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7360920" y="176479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0356" y="1824228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53712" y="20574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Setup &amp; Structure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0" y="160020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/>
          <a:effectLst>
            <a:outerShdw blurRad="101600" dist="38100" dir="27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8394192" y="17099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3D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11201400" y="176479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0836" y="1824228"/>
            <a:ext cx="338328" cy="3383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94192" y="20574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Controllers, Routing &amp; HTTP Verbs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274320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/>
          <a:effectLst>
            <a:outerShdw blurRad="101600" dist="38100" dir="27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713232" y="28529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3D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Shape 16"/>
          <p:cNvSpPr/>
          <p:nvPr/>
        </p:nvSpPr>
        <p:spPr>
          <a:xfrm>
            <a:off x="3520440" y="290779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9876" y="2967228"/>
            <a:ext cx="338328" cy="33832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3232" y="32004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Binding &amp; Validation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389120" y="274320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/>
          <a:effectLst>
            <a:outerShdw blurRad="101600" dist="38100" dir="27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/>
          <p:nvPr/>
        </p:nvSpPr>
        <p:spPr>
          <a:xfrm>
            <a:off x="4553712" y="28529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3D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6" name="Shape 20"/>
          <p:cNvSpPr/>
          <p:nvPr/>
        </p:nvSpPr>
        <p:spPr>
          <a:xfrm>
            <a:off x="7360920" y="290779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2967228"/>
            <a:ext cx="338328" cy="33832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53712" y="32004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 &amp; Middleware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229600" y="274320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/>
          <a:effectLst>
            <a:outerShdw blurRad="101600" dist="38100" dir="27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3"/>
          <p:cNvSpPr/>
          <p:nvPr/>
        </p:nvSpPr>
        <p:spPr>
          <a:xfrm>
            <a:off x="8394192" y="28529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3D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31" name="Shape 24"/>
          <p:cNvSpPr/>
          <p:nvPr/>
        </p:nvSpPr>
        <p:spPr>
          <a:xfrm>
            <a:off x="11201400" y="290779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60836" y="2967228"/>
            <a:ext cx="338328" cy="33832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94192" y="32004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Access with EF Core</a:t>
            </a:r>
            <a:endParaRPr lang="en-US" sz="1250" dirty="0"/>
          </a:p>
        </p:txBody>
      </p:sp>
      <p:sp>
        <p:nvSpPr>
          <p:cNvPr id="34" name="Shape 26"/>
          <p:cNvSpPr/>
          <p:nvPr/>
        </p:nvSpPr>
        <p:spPr>
          <a:xfrm>
            <a:off x="548640" y="388620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/>
          <a:effectLst>
            <a:outerShdw blurRad="101600" dist="38100" dir="27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27"/>
          <p:cNvSpPr/>
          <p:nvPr/>
        </p:nvSpPr>
        <p:spPr>
          <a:xfrm>
            <a:off x="713232" y="39959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3D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36" name="Shape 28"/>
          <p:cNvSpPr/>
          <p:nvPr/>
        </p:nvSpPr>
        <p:spPr>
          <a:xfrm>
            <a:off x="3520440" y="405079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79876" y="4110228"/>
            <a:ext cx="338328" cy="33832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713232" y="43434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Programming Best Practices</a:t>
            </a:r>
            <a:endParaRPr lang="en-US" sz="1250" dirty="0"/>
          </a:p>
        </p:txBody>
      </p:sp>
      <p:sp>
        <p:nvSpPr>
          <p:cNvPr id="39" name="Shape 30"/>
          <p:cNvSpPr/>
          <p:nvPr/>
        </p:nvSpPr>
        <p:spPr>
          <a:xfrm>
            <a:off x="4389120" y="388620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/>
          <a:effectLst>
            <a:outerShdw blurRad="101600" dist="38100" dir="27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Text 31"/>
          <p:cNvSpPr/>
          <p:nvPr/>
        </p:nvSpPr>
        <p:spPr>
          <a:xfrm>
            <a:off x="4553712" y="39959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3D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sp>
        <p:nvSpPr>
          <p:cNvPr id="41" name="Shape 32"/>
          <p:cNvSpPr/>
          <p:nvPr/>
        </p:nvSpPr>
        <p:spPr>
          <a:xfrm>
            <a:off x="7360920" y="405079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0356" y="4110228"/>
            <a:ext cx="338328" cy="33832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4553712" y="43434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Swagger, Error Handling &amp; Security (JWT)</a:t>
            </a:r>
            <a:endParaRPr lang="en-US" sz="1250" dirty="0"/>
          </a:p>
        </p:txBody>
      </p:sp>
      <p:sp>
        <p:nvSpPr>
          <p:cNvPr id="44" name="Shape 34"/>
          <p:cNvSpPr/>
          <p:nvPr/>
        </p:nvSpPr>
        <p:spPr>
          <a:xfrm>
            <a:off x="8229600" y="388620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/>
          <a:effectLst>
            <a:outerShdw blurRad="101600" dist="38100" dir="27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Text 35"/>
          <p:cNvSpPr/>
          <p:nvPr/>
        </p:nvSpPr>
        <p:spPr>
          <a:xfrm>
            <a:off x="8394192" y="39959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3D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600" dirty="0"/>
          </a:p>
        </p:txBody>
      </p:sp>
      <p:sp>
        <p:nvSpPr>
          <p:cNvPr id="46" name="Shape 36"/>
          <p:cNvSpPr/>
          <p:nvPr/>
        </p:nvSpPr>
        <p:spPr>
          <a:xfrm>
            <a:off x="11201400" y="405079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60836" y="4110228"/>
            <a:ext cx="338328" cy="338328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8394192" y="43434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with Postman &amp; Best Practices</a:t>
            </a:r>
            <a:endParaRPr lang="en-US" sz="1250" dirty="0"/>
          </a:p>
        </p:txBody>
      </p:sp>
      <p:sp>
        <p:nvSpPr>
          <p:cNvPr id="49" name="Text 3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50" name="Text 3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Web API?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API (Application Programming Interface) is a set of HTTP endpoints that allows different applications — web, mobile, or desktop — to communicate with a server and exchange data, typically in JSON format.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Principles Web APIs Follow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6035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Stateless — every request contains all info needed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Resource-based URLs (e.g. /api/products/5)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Uses standard HTTP verbs: GET, POST, PUT, DELETE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Client-Server separation of concerns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0" y="1600200"/>
            <a:ext cx="4297680" cy="1051560"/>
          </a:xfrm>
          <a:prstGeom prst="roundRect">
            <a:avLst>
              <a:gd name="adj" fmla="val 8696"/>
            </a:avLst>
          </a:prstGeom>
          <a:solidFill>
            <a:srgbClr val="065A82"/>
          </a:solidFill>
          <a:ln/>
          <a:effectLst>
            <a:outerShdw blurRad="101600" dist="38100" dir="27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543800" y="181051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7010" y="1893722"/>
            <a:ext cx="473659" cy="47365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321040" y="1737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(Web / Mobile App)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464040" y="2651760"/>
            <a:ext cx="0" cy="502920"/>
          </a:xfrm>
          <a:prstGeom prst="line">
            <a:avLst/>
          </a:prstGeom>
          <a:noFill/>
          <a:ln w="2540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7223760" y="26974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</a:rPr>
              <a:t>HTTP Request / Response (JSON)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315200" y="3200400"/>
            <a:ext cx="4297680" cy="1051560"/>
          </a:xfrm>
          <a:prstGeom prst="roundRect">
            <a:avLst>
              <a:gd name="adj" fmla="val 8696"/>
            </a:avLst>
          </a:prstGeom>
          <a:solidFill>
            <a:srgbClr val="1C7293"/>
          </a:solidFill>
          <a:ln/>
          <a:effectLst>
            <a:outerShdw blurRad="101600" dist="38100" dir="27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7543800" y="341071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7010" y="3493922"/>
            <a:ext cx="473659" cy="47365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321040" y="33375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API Server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9464040" y="4251960"/>
            <a:ext cx="0" cy="502920"/>
          </a:xfrm>
          <a:prstGeom prst="line">
            <a:avLst/>
          </a:prstGeom>
          <a:noFill/>
          <a:ln w="2540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7315200" y="4800600"/>
            <a:ext cx="4297680" cy="914400"/>
          </a:xfrm>
          <a:prstGeom prst="roundRect">
            <a:avLst>
              <a:gd name="adj" fmla="val 10000"/>
            </a:avLst>
          </a:prstGeom>
          <a:solidFill>
            <a:srgbClr val="EEF4F8"/>
          </a:solidFill>
          <a:ln/>
          <a:effectLst>
            <a:outerShdw blurRad="101600" dist="38100" dir="27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7543800" y="4974336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7501" y="5048037"/>
            <a:ext cx="419527" cy="41952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21040" y="48463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ASP.NET Core Web API?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EEF4F8"/>
          </a:solidFill>
          <a:ln/>
          <a:effectLst>
            <a:outerShdw blurRad="101600" dist="38100" dir="27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" y="190012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146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Performance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28803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fastest web frameworks — built on a lightweight, optimized runtime (Kestrel).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9120" y="16002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EEF4F8"/>
          </a:solidFill>
          <a:ln/>
          <a:effectLst>
            <a:outerShdw blurRad="101600" dist="38100" dir="27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617720" y="18288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9043" y="1900123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5146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17720" y="28803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Windows, Linux, and macOS. Deploy anywhere: containers, cloud, on-prem.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29600" y="16002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EEF4F8"/>
          </a:solidFill>
          <a:ln/>
          <a:effectLst>
            <a:outerShdw blurRad="101600" dist="38100" dir="27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8458200" y="18288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9523" y="1900123"/>
            <a:ext cx="405994" cy="4059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25146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DI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58200" y="28803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 is a first-class citizen, making code testable and modular.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EEF4F8"/>
          </a:solidFill>
          <a:ln/>
          <a:effectLst>
            <a:outerShdw blurRad="101600" dist="38100" dir="27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63" y="4277563"/>
            <a:ext cx="405994" cy="4059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892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Ready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77240" y="52578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support for security, authentication, logging, and configuration.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89120" y="397764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EEF4F8"/>
          </a:solidFill>
          <a:ln/>
          <a:effectLst>
            <a:outerShdw blurRad="101600" dist="38100" dir="27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4617720" y="4206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9043" y="4277563"/>
            <a:ext cx="405994" cy="40599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17720" y="4892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Native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17720" y="52578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fit for microservices, Docker, and Azure/AWS deployments.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229600" y="397764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EEF4F8"/>
          </a:solidFill>
          <a:ln/>
          <a:effectLst>
            <a:outerShdw blurRad="101600" dist="38100" dir="27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8458200" y="4206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9523" y="4277563"/>
            <a:ext cx="405994" cy="40599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58200" y="4892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458200" y="52578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developed by Microsoft &amp; the community on GitHub.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READY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You'll Need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EEF4F8"/>
          </a:solidFill>
          <a:ln/>
          <a:effectLst>
            <a:outerShdw blurRad="101600" dist="38100" dir="27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507" y="1951787"/>
            <a:ext cx="439826" cy="4398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0136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SDK (8.0 or later)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577840" y="1801368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from dotnet.microsoft.com — includes the CLI, runtime, and libraries.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8346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EEF4F8"/>
          </a:solidFill>
          <a:ln/>
          <a:effectLst>
            <a:outerShdw blurRad="101600" dist="38100" dir="27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777240" y="301752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507" y="3094787"/>
            <a:ext cx="439826" cy="4398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94436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/ VS Code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577840" y="2944368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2022 (Windows) or VS Code with the C# Dev Kit extension.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EEF4F8"/>
          </a:solidFill>
          <a:ln/>
          <a:effectLst>
            <a:outerShdw blurRad="101600" dist="38100" dir="27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777240" y="416052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507" y="4237787"/>
            <a:ext cx="439826" cy="43982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08736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/ REST Client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577840" y="4087368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sending requests and testing your API endpoints during development.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1206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EEF4F8"/>
          </a:solidFill>
          <a:ln/>
          <a:effectLst>
            <a:outerShdw blurRad="101600" dist="38100" dir="27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777240" y="530352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507" y="5380787"/>
            <a:ext cx="439826" cy="43982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523036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/ SQLite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577840" y="5230368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engine to practice Entity Framework Core integration.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Ready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Your First Web API Project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.NET CLI to scaffold a new Web API project in seconds: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6400800" cy="3566160"/>
          </a:xfrm>
          <a:prstGeom prst="roundRect">
            <a:avLst>
              <a:gd name="adj" fmla="val 2051"/>
            </a:avLst>
          </a:prstGeom>
          <a:solidFill>
            <a:srgbClr val="12233B"/>
          </a:solidFill>
          <a:ln/>
          <a:effectLst>
            <a:outerShdw blurRad="101600" dist="38100" dir="27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" y="2112264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32688" y="2112264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133856" y="2112264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77240" y="2313432"/>
            <a:ext cx="5943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Create a new Web API project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new webapi -n MyFirstApi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Move into the project folder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MyFirstApi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Run the application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run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 now listens on https://localhost:5001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0" y="21031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580" y="2168500"/>
            <a:ext cx="372161" cy="37216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955280" y="20848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just happened?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0" y="2606040"/>
            <a:ext cx="4297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Scaffolds a ready-to-run API template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Includes an example WeatherForecast controller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Configures Swagger UI automatically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Sets up launch profiles for local dev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66" y="1695846"/>
            <a:ext cx="284196" cy="2841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554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Program.cs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480560" y="15544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entry point — configures services &amp; the HTTP request pipeline.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33172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66" y="2381646"/>
            <a:ext cx="284196" cy="2841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22402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Controllers/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480560" y="22402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API controller classes that handle incoming HTTP requests.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01752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66" y="3067446"/>
            <a:ext cx="284196" cy="2841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29260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Models/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480560" y="29260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C# classes (POCOs) representing your data / DTOs.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370332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66" y="3753246"/>
            <a:ext cx="284196" cy="2841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97280" y="36118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appsettings.json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480560" y="36118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file — connection strings, logging levels, custom settings.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438912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66" y="4439046"/>
            <a:ext cx="284196" cy="28419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97280" y="4297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Properties/launchSettings.json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4480560" y="42976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development server &amp; environment settings.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548640" y="507492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66" y="5124846"/>
            <a:ext cx="284196" cy="28419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097280" y="4983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MyFirstApi.csproj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4480560" y="49834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file listing target framework &amp; NuGet package references.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Controllers &amp; Routing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A Controller is a class that handles HTTP requests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[ApiController] enables automatic model validation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[Route] defines the base URL pattern for the controller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Each action method maps to one endpoint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[controller] token auto-resolves to the class name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52160" y="1417320"/>
            <a:ext cx="5760720" cy="4297680"/>
          </a:xfrm>
          <a:prstGeom prst="roundRect">
            <a:avLst>
              <a:gd name="adj" fmla="val 1702"/>
            </a:avLst>
          </a:prstGeom>
          <a:solidFill>
            <a:srgbClr val="12233B"/>
          </a:solidFill>
          <a:ln/>
          <a:effectLst>
            <a:outerShdw blurRad="101600" dist="38100" dir="27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035040" y="1563624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236208" y="1563624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37376" y="1563624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080760" y="1764792"/>
            <a:ext cx="5303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[ApiController]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[Route("api/[controller]")]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ProductsController : ControllerBase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readonly IProductService _service;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ProductsController(IProductService svc)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_service = svc;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[HttpGet]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IActionResult GetAll()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Ok(_service.GetAll());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Methods &amp; CRUD Mapping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21031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Verb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 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Route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[HttpGet]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/api/products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(by id)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[HttpGet("{id}")]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/api/products/5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[HttpPost]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/api/products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[HttpPut("{id}")]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/api/products/5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[HttpDelete("{id}")]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/api/products/5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97764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12233B"/>
          </a:solidFill>
          <a:ln/>
          <a:effectLst>
            <a:outerShdw blurRad="101600" dist="38100" dir="27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731520" y="4123944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932688" y="4123944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1133856" y="4123944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77240" y="4325112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[HttpPost]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IActionResult Create([FromBody] Product p)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(!ModelState.IsValid) return BadRequest();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_service.Add(p);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CreatedAtAction(nameof(GetAll), new { id = p.Id }, p);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4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Binding &amp; Validation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Model binding maps request data (body, query, route) to C# objects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[FromBody], [FromQuery], [FromRoute] control the binding source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Data Annotations declare validation rules on the model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[ApiController] auto-returns 400 on invalid models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52160" y="1417320"/>
            <a:ext cx="5760720" cy="3291840"/>
          </a:xfrm>
          <a:prstGeom prst="roundRect">
            <a:avLst>
              <a:gd name="adj" fmla="val 2222"/>
            </a:avLst>
          </a:prstGeom>
          <a:solidFill>
            <a:srgbClr val="12233B"/>
          </a:solidFill>
          <a:ln/>
          <a:effectLst>
            <a:outerShdw blurRad="101600" dist="38100" dir="27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035040" y="1563624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236208" y="1563624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37376" y="1563624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080760" y="1764792"/>
            <a:ext cx="5303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Product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int Id { get; set; }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[Required, MaxLength(100)]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Name { get; set; }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[Range(1, 10000)]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decimal Price { get; set; }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Dependency Injection (DI)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DI provides objects (services) to classes that need them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Reduces tight coupling and improves testability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Registered in Program.cs before the app is built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Three lifetimes: Transient, Scoped, Singleton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52160" y="1417320"/>
            <a:ext cx="5760720" cy="3383280"/>
          </a:xfrm>
          <a:prstGeom prst="roundRect">
            <a:avLst>
              <a:gd name="adj" fmla="val 2162"/>
            </a:avLst>
          </a:prstGeom>
          <a:solidFill>
            <a:srgbClr val="12233B"/>
          </a:solidFill>
          <a:ln/>
          <a:effectLst>
            <a:outerShdw blurRad="101600" dist="38100" dir="27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035040" y="1563624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236208" y="1563624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37376" y="1563624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080760" y="1764792"/>
            <a:ext cx="5303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Program.cs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builder = WebApplication.CreateBuilder(args);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builder.Services.AddScoped&lt;IProductService,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ProductService&gt;();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builder.Services.AddControllers();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app = builder.Build();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app.MapControllers();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app.Run();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Middleware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flows through an ordered chain of middleware components. Each one can inspect, modify, short-circuit, or pass the request to the next.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/>
          <a:effectLst>
            <a:outerShdw blurRad="101600" dist="38100" dir="27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101852" y="2633472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043" y="2697663"/>
            <a:ext cx="365394" cy="3653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32461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148840" y="29260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468880" y="246888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/>
          <a:effectLst>
            <a:outerShdw blurRad="101600" dist="38100" dir="27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022092" y="2633472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6283" y="2697663"/>
            <a:ext cx="365394" cy="36539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14600" y="32461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Redirection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069080" y="29260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4389120" y="246888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/>
          <a:effectLst>
            <a:outerShdw blurRad="101600" dist="38100" dir="27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4942332" y="2633472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6523" y="2697663"/>
            <a:ext cx="365394" cy="36539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434840" y="32461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989320" y="29260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5"/>
          <p:cNvSpPr/>
          <p:nvPr/>
        </p:nvSpPr>
        <p:spPr>
          <a:xfrm>
            <a:off x="6309360" y="246888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/>
          <a:effectLst>
            <a:outerShdw blurRad="101600" dist="38100" dir="27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6862572" y="2633472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6763" y="2697663"/>
            <a:ext cx="365394" cy="36539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355080" y="32461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7909560" y="29260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19"/>
          <p:cNvSpPr/>
          <p:nvPr/>
        </p:nvSpPr>
        <p:spPr>
          <a:xfrm>
            <a:off x="8229600" y="246888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/>
          <a:effectLst>
            <a:outerShdw blurRad="101600" dist="38100" dir="27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8782812" y="2633472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7003" y="2697663"/>
            <a:ext cx="365394" cy="36539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275320" y="32461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9829800" y="29260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30" name="Shape 23"/>
          <p:cNvSpPr/>
          <p:nvPr/>
        </p:nvSpPr>
        <p:spPr>
          <a:xfrm>
            <a:off x="10149840" y="246888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  <a:effectLst>
            <a:outerShdw blurRad="101600" dist="38100" dir="27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4"/>
          <p:cNvSpPr/>
          <p:nvPr/>
        </p:nvSpPr>
        <p:spPr>
          <a:xfrm>
            <a:off x="10703052" y="2633472"/>
            <a:ext cx="493776" cy="493776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67243" y="2697663"/>
            <a:ext cx="365394" cy="36539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0195560" y="32461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548640" y="420624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12233B"/>
          </a:solidFill>
          <a:ln/>
          <a:effectLst>
            <a:outerShdw blurRad="101600" dist="38100" dir="27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27"/>
          <p:cNvSpPr/>
          <p:nvPr/>
        </p:nvSpPr>
        <p:spPr>
          <a:xfrm>
            <a:off x="731520" y="4352544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28"/>
          <p:cNvSpPr/>
          <p:nvPr/>
        </p:nvSpPr>
        <p:spPr>
          <a:xfrm>
            <a:off x="932688" y="4352544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29"/>
          <p:cNvSpPr/>
          <p:nvPr/>
        </p:nvSpPr>
        <p:spPr>
          <a:xfrm>
            <a:off x="1133856" y="4352544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0"/>
          <p:cNvSpPr/>
          <p:nvPr/>
        </p:nvSpPr>
        <p:spPr>
          <a:xfrm>
            <a:off x="777240" y="4553712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app.UseExceptionHandler("/error");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app.UseHttpsRedirection();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app.UseAuthentication();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app.UseAuthorization();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app.MapControllers();</a:t>
            </a:r>
            <a:endParaRPr lang="en-US" sz="1350" dirty="0"/>
          </a:p>
        </p:txBody>
      </p:sp>
      <p:sp>
        <p:nvSpPr>
          <p:cNvPr id="39" name="Text 3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403565-290C-7C7C-C009-62BA1125E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A225AB0-3644-7C5D-E312-FB69C78E9542}"/>
              </a:ext>
            </a:extLst>
          </p:cNvPr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D0B61C8-153C-4D0D-8B6B-24BA5E67B28C}"/>
              </a:ext>
            </a:extLst>
          </p:cNvPr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Middleware Pipeline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D334FC6-A758-2EFB-DE3D-F933A76AF881}"/>
              </a:ext>
            </a:extLst>
          </p:cNvPr>
          <p:cNvSpPr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flows through an ordered chain of middleware components. Each one can inspect, modify, short-circuit, or pass the request to the next.</a:t>
            </a:r>
            <a:endParaRPr lang="en-US" sz="13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368011F-5212-511E-0398-353DC3388844}"/>
              </a:ext>
            </a:extLst>
          </p:cNvPr>
          <p:cNvSpPr/>
          <p:nvPr/>
        </p:nvSpPr>
        <p:spPr>
          <a:xfrm>
            <a:off x="548640" y="246888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/>
          <a:effectLst>
            <a:outerShdw blurRad="101600" dist="38100" dir="27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3C28DC8-166C-4017-B80E-D6437B7A4F42}"/>
              </a:ext>
            </a:extLst>
          </p:cNvPr>
          <p:cNvSpPr/>
          <p:nvPr/>
        </p:nvSpPr>
        <p:spPr>
          <a:xfrm>
            <a:off x="1101852" y="2633472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940008A2-4B05-03F6-2B1A-9D16E5777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043" y="2697663"/>
            <a:ext cx="365394" cy="365394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CA5DA16E-1A0A-4FB3-69A6-262F5AFB82BD}"/>
              </a:ext>
            </a:extLst>
          </p:cNvPr>
          <p:cNvSpPr/>
          <p:nvPr/>
        </p:nvSpPr>
        <p:spPr>
          <a:xfrm>
            <a:off x="594360" y="32461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</a:t>
            </a:r>
            <a:endParaRPr lang="en-US" sz="11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E62ACB6-2C0F-C084-C4EA-1E3E40063AA1}"/>
              </a:ext>
            </a:extLst>
          </p:cNvPr>
          <p:cNvSpPr/>
          <p:nvPr/>
        </p:nvSpPr>
        <p:spPr>
          <a:xfrm>
            <a:off x="2148840" y="29260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7B3C8219-E46B-E003-0A01-E1BAB096EE9C}"/>
              </a:ext>
            </a:extLst>
          </p:cNvPr>
          <p:cNvSpPr/>
          <p:nvPr/>
        </p:nvSpPr>
        <p:spPr>
          <a:xfrm>
            <a:off x="2468880" y="246888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/>
          <a:effectLst>
            <a:outerShdw blurRad="101600" dist="38100" dir="27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A27A8C3B-8333-90CC-6CFB-B62DDC635B26}"/>
              </a:ext>
            </a:extLst>
          </p:cNvPr>
          <p:cNvSpPr/>
          <p:nvPr/>
        </p:nvSpPr>
        <p:spPr>
          <a:xfrm>
            <a:off x="3022092" y="2633472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A45104DD-B655-0F50-6800-24E0C3CA0A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6283" y="2697663"/>
            <a:ext cx="365394" cy="365394"/>
          </a:xfrm>
          <a:prstGeom prst="rect">
            <a:avLst/>
          </a:prstGeom>
        </p:spPr>
      </p:pic>
      <p:sp>
        <p:nvSpPr>
          <p:cNvPr id="13" name="Text 9">
            <a:extLst>
              <a:ext uri="{FF2B5EF4-FFF2-40B4-BE49-F238E27FC236}">
                <a16:creationId xmlns:a16="http://schemas.microsoft.com/office/drawing/2014/main" id="{9B1A8D2C-739D-6CCF-F2BA-554B06177A61}"/>
              </a:ext>
            </a:extLst>
          </p:cNvPr>
          <p:cNvSpPr/>
          <p:nvPr/>
        </p:nvSpPr>
        <p:spPr>
          <a:xfrm>
            <a:off x="2514600" y="32461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Redirection</a:t>
            </a:r>
            <a:endParaRPr lang="en-US" sz="11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D2525E4E-5266-D720-54BC-FA93ADBF7CA3}"/>
              </a:ext>
            </a:extLst>
          </p:cNvPr>
          <p:cNvSpPr/>
          <p:nvPr/>
        </p:nvSpPr>
        <p:spPr>
          <a:xfrm>
            <a:off x="4069080" y="29260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76207483-C39F-0F74-ACD3-ABA866C89F4C}"/>
              </a:ext>
            </a:extLst>
          </p:cNvPr>
          <p:cNvSpPr/>
          <p:nvPr/>
        </p:nvSpPr>
        <p:spPr>
          <a:xfrm>
            <a:off x="4389120" y="246888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/>
          <a:effectLst>
            <a:outerShdw blurRad="101600" dist="38100" dir="27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D9EE94E0-89AE-6DD8-D426-C54EED7F7332}"/>
              </a:ext>
            </a:extLst>
          </p:cNvPr>
          <p:cNvSpPr/>
          <p:nvPr/>
        </p:nvSpPr>
        <p:spPr>
          <a:xfrm>
            <a:off x="4942332" y="2633472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>
            <a:extLst>
              <a:ext uri="{FF2B5EF4-FFF2-40B4-BE49-F238E27FC236}">
                <a16:creationId xmlns:a16="http://schemas.microsoft.com/office/drawing/2014/main" id="{7AE2FD0D-6F5D-E22A-E5D0-7C982C1A22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6523" y="2697663"/>
            <a:ext cx="365394" cy="365394"/>
          </a:xfrm>
          <a:prstGeom prst="rect">
            <a:avLst/>
          </a:prstGeom>
        </p:spPr>
      </p:pic>
      <p:sp>
        <p:nvSpPr>
          <p:cNvPr id="18" name="Text 13">
            <a:extLst>
              <a:ext uri="{FF2B5EF4-FFF2-40B4-BE49-F238E27FC236}">
                <a16:creationId xmlns:a16="http://schemas.microsoft.com/office/drawing/2014/main" id="{A5580ACC-B6CD-B146-0F5D-1B05E067FBD2}"/>
              </a:ext>
            </a:extLst>
          </p:cNvPr>
          <p:cNvSpPr/>
          <p:nvPr/>
        </p:nvSpPr>
        <p:spPr>
          <a:xfrm>
            <a:off x="4434840" y="32461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10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8BF0EAF1-1940-6DB8-7936-CA636A7734A9}"/>
              </a:ext>
            </a:extLst>
          </p:cNvPr>
          <p:cNvSpPr/>
          <p:nvPr/>
        </p:nvSpPr>
        <p:spPr>
          <a:xfrm>
            <a:off x="5989320" y="29260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4027F888-388E-038F-F25C-59CF701CECDC}"/>
              </a:ext>
            </a:extLst>
          </p:cNvPr>
          <p:cNvSpPr/>
          <p:nvPr/>
        </p:nvSpPr>
        <p:spPr>
          <a:xfrm>
            <a:off x="6309360" y="246888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/>
          <a:effectLst>
            <a:outerShdw blurRad="101600" dist="38100" dir="27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7FF7AFB5-9B34-4E5C-3D61-8C6F79807533}"/>
              </a:ext>
            </a:extLst>
          </p:cNvPr>
          <p:cNvSpPr/>
          <p:nvPr/>
        </p:nvSpPr>
        <p:spPr>
          <a:xfrm>
            <a:off x="6862572" y="2633472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>
            <a:extLst>
              <a:ext uri="{FF2B5EF4-FFF2-40B4-BE49-F238E27FC236}">
                <a16:creationId xmlns:a16="http://schemas.microsoft.com/office/drawing/2014/main" id="{E5AB5D7A-4212-B448-B0D0-39A13E332D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6763" y="2697663"/>
            <a:ext cx="365394" cy="365394"/>
          </a:xfrm>
          <a:prstGeom prst="rect">
            <a:avLst/>
          </a:prstGeom>
        </p:spPr>
      </p:pic>
      <p:sp>
        <p:nvSpPr>
          <p:cNvPr id="23" name="Text 17">
            <a:extLst>
              <a:ext uri="{FF2B5EF4-FFF2-40B4-BE49-F238E27FC236}">
                <a16:creationId xmlns:a16="http://schemas.microsoft.com/office/drawing/2014/main" id="{26072509-19E1-95EF-DEC7-79E4BAA19425}"/>
              </a:ext>
            </a:extLst>
          </p:cNvPr>
          <p:cNvSpPr/>
          <p:nvPr/>
        </p:nvSpPr>
        <p:spPr>
          <a:xfrm>
            <a:off x="6355080" y="32461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00" dirty="0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C723B2BB-9475-2375-9852-72A50C85D3E1}"/>
              </a:ext>
            </a:extLst>
          </p:cNvPr>
          <p:cNvSpPr/>
          <p:nvPr/>
        </p:nvSpPr>
        <p:spPr>
          <a:xfrm>
            <a:off x="7909560" y="29260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DCE81F6E-8990-21D7-E155-77DF392B7EE0}"/>
              </a:ext>
            </a:extLst>
          </p:cNvPr>
          <p:cNvSpPr/>
          <p:nvPr/>
        </p:nvSpPr>
        <p:spPr>
          <a:xfrm>
            <a:off x="8229600" y="246888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/>
          <a:effectLst>
            <a:outerShdw blurRad="101600" dist="38100" dir="27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456229C3-DE00-B461-F299-B03927F71B7A}"/>
              </a:ext>
            </a:extLst>
          </p:cNvPr>
          <p:cNvSpPr/>
          <p:nvPr/>
        </p:nvSpPr>
        <p:spPr>
          <a:xfrm>
            <a:off x="8782812" y="2633472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4" descr="preencoded.png">
            <a:extLst>
              <a:ext uri="{FF2B5EF4-FFF2-40B4-BE49-F238E27FC236}">
                <a16:creationId xmlns:a16="http://schemas.microsoft.com/office/drawing/2014/main" id="{64832C3B-D2AD-9122-BB07-65EA4E2E6C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7003" y="2697663"/>
            <a:ext cx="365394" cy="365394"/>
          </a:xfrm>
          <a:prstGeom prst="rect">
            <a:avLst/>
          </a:prstGeom>
        </p:spPr>
      </p:pic>
      <p:sp>
        <p:nvSpPr>
          <p:cNvPr id="28" name="Text 21">
            <a:extLst>
              <a:ext uri="{FF2B5EF4-FFF2-40B4-BE49-F238E27FC236}">
                <a16:creationId xmlns:a16="http://schemas.microsoft.com/office/drawing/2014/main" id="{CFCC8BFE-F763-6122-B491-F23E3A83523E}"/>
              </a:ext>
            </a:extLst>
          </p:cNvPr>
          <p:cNvSpPr/>
          <p:nvPr/>
        </p:nvSpPr>
        <p:spPr>
          <a:xfrm>
            <a:off x="8275320" y="32461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100" dirty="0"/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DEC5DABB-C3B2-2BBB-0C1C-22C16265607E}"/>
              </a:ext>
            </a:extLst>
          </p:cNvPr>
          <p:cNvSpPr/>
          <p:nvPr/>
        </p:nvSpPr>
        <p:spPr>
          <a:xfrm>
            <a:off x="9829800" y="29260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30" name="Shape 23">
            <a:extLst>
              <a:ext uri="{FF2B5EF4-FFF2-40B4-BE49-F238E27FC236}">
                <a16:creationId xmlns:a16="http://schemas.microsoft.com/office/drawing/2014/main" id="{FC490865-1315-9498-2F41-C8F314854739}"/>
              </a:ext>
            </a:extLst>
          </p:cNvPr>
          <p:cNvSpPr/>
          <p:nvPr/>
        </p:nvSpPr>
        <p:spPr>
          <a:xfrm>
            <a:off x="10149840" y="246888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  <a:effectLst>
            <a:outerShdw blurRad="101600" dist="38100" dir="27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4">
            <a:extLst>
              <a:ext uri="{FF2B5EF4-FFF2-40B4-BE49-F238E27FC236}">
                <a16:creationId xmlns:a16="http://schemas.microsoft.com/office/drawing/2014/main" id="{49AA14BE-1444-D3E6-362A-593CC1D88B68}"/>
              </a:ext>
            </a:extLst>
          </p:cNvPr>
          <p:cNvSpPr/>
          <p:nvPr/>
        </p:nvSpPr>
        <p:spPr>
          <a:xfrm>
            <a:off x="10703052" y="2633472"/>
            <a:ext cx="493776" cy="493776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5" descr="preencoded.png">
            <a:extLst>
              <a:ext uri="{FF2B5EF4-FFF2-40B4-BE49-F238E27FC236}">
                <a16:creationId xmlns:a16="http://schemas.microsoft.com/office/drawing/2014/main" id="{9B596652-10FA-FD7F-9457-86ECDDEA65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67243" y="2697663"/>
            <a:ext cx="365394" cy="365394"/>
          </a:xfrm>
          <a:prstGeom prst="rect">
            <a:avLst/>
          </a:prstGeom>
        </p:spPr>
      </p:pic>
      <p:sp>
        <p:nvSpPr>
          <p:cNvPr id="33" name="Text 25">
            <a:extLst>
              <a:ext uri="{FF2B5EF4-FFF2-40B4-BE49-F238E27FC236}">
                <a16:creationId xmlns:a16="http://schemas.microsoft.com/office/drawing/2014/main" id="{06CD7EFF-DFE7-55DD-AED8-A435A6CB7743}"/>
              </a:ext>
            </a:extLst>
          </p:cNvPr>
          <p:cNvSpPr/>
          <p:nvPr/>
        </p:nvSpPr>
        <p:spPr>
          <a:xfrm>
            <a:off x="10195560" y="32461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100" dirty="0"/>
          </a:p>
        </p:txBody>
      </p:sp>
      <p:sp>
        <p:nvSpPr>
          <p:cNvPr id="34" name="Shape 26">
            <a:extLst>
              <a:ext uri="{FF2B5EF4-FFF2-40B4-BE49-F238E27FC236}">
                <a16:creationId xmlns:a16="http://schemas.microsoft.com/office/drawing/2014/main" id="{E7EA11C5-11A8-D2AD-5456-849B31BBA33C}"/>
              </a:ext>
            </a:extLst>
          </p:cNvPr>
          <p:cNvSpPr/>
          <p:nvPr/>
        </p:nvSpPr>
        <p:spPr>
          <a:xfrm>
            <a:off x="548640" y="420624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12233B"/>
          </a:solidFill>
          <a:ln/>
          <a:effectLst>
            <a:outerShdw blurRad="101600" dist="38100" dir="27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27">
            <a:extLst>
              <a:ext uri="{FF2B5EF4-FFF2-40B4-BE49-F238E27FC236}">
                <a16:creationId xmlns:a16="http://schemas.microsoft.com/office/drawing/2014/main" id="{793698EE-904F-923A-F1E4-795AE89C3D46}"/>
              </a:ext>
            </a:extLst>
          </p:cNvPr>
          <p:cNvSpPr/>
          <p:nvPr/>
        </p:nvSpPr>
        <p:spPr>
          <a:xfrm>
            <a:off x="731520" y="4352544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28">
            <a:extLst>
              <a:ext uri="{FF2B5EF4-FFF2-40B4-BE49-F238E27FC236}">
                <a16:creationId xmlns:a16="http://schemas.microsoft.com/office/drawing/2014/main" id="{2D673900-6493-84BF-E514-C0A311CC35DB}"/>
              </a:ext>
            </a:extLst>
          </p:cNvPr>
          <p:cNvSpPr/>
          <p:nvPr/>
        </p:nvSpPr>
        <p:spPr>
          <a:xfrm>
            <a:off x="932688" y="4352544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29">
            <a:extLst>
              <a:ext uri="{FF2B5EF4-FFF2-40B4-BE49-F238E27FC236}">
                <a16:creationId xmlns:a16="http://schemas.microsoft.com/office/drawing/2014/main" id="{CF0401A5-AF66-913B-890A-79C674488F5E}"/>
              </a:ext>
            </a:extLst>
          </p:cNvPr>
          <p:cNvSpPr/>
          <p:nvPr/>
        </p:nvSpPr>
        <p:spPr>
          <a:xfrm>
            <a:off x="1133856" y="4352544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0">
            <a:extLst>
              <a:ext uri="{FF2B5EF4-FFF2-40B4-BE49-F238E27FC236}">
                <a16:creationId xmlns:a16="http://schemas.microsoft.com/office/drawing/2014/main" id="{F54BE5F9-94BF-B709-F0FD-A569EB0CD98E}"/>
              </a:ext>
            </a:extLst>
          </p:cNvPr>
          <p:cNvSpPr/>
          <p:nvPr/>
        </p:nvSpPr>
        <p:spPr>
          <a:xfrm>
            <a:off x="777240" y="4553712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app.UseExceptionHandler("/error");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app.UseHttpsRedirection();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app.UseAuthentication();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app.UseAuthorization();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app.MapControllers();</a:t>
            </a:r>
            <a:endParaRPr lang="en-US" sz="1350" dirty="0"/>
          </a:p>
        </p:txBody>
      </p:sp>
      <p:sp>
        <p:nvSpPr>
          <p:cNvPr id="39" name="Text 31">
            <a:extLst>
              <a:ext uri="{FF2B5EF4-FFF2-40B4-BE49-F238E27FC236}">
                <a16:creationId xmlns:a16="http://schemas.microsoft.com/office/drawing/2014/main" id="{047B47F3-73BA-F75B-408E-22B9193AEE36}"/>
              </a:ext>
            </a:extLst>
          </p:cNvPr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000" dirty="0"/>
          </a:p>
        </p:txBody>
      </p:sp>
      <p:sp>
        <p:nvSpPr>
          <p:cNvPr id="40" name="Text 32">
            <a:extLst>
              <a:ext uri="{FF2B5EF4-FFF2-40B4-BE49-F238E27FC236}">
                <a16:creationId xmlns:a16="http://schemas.microsoft.com/office/drawing/2014/main" id="{694A7430-FB56-CAF5-5BC3-FAC1CECB337A}"/>
              </a:ext>
            </a:extLst>
          </p:cNvPr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1026" name="Picture 2" descr="🚀 ASP.NET Core Request Pipeline — Explained Simply">
            <a:extLst>
              <a:ext uri="{FF2B5EF4-FFF2-40B4-BE49-F238E27FC236}">
                <a16:creationId xmlns:a16="http://schemas.microsoft.com/office/drawing/2014/main" id="{AFFC5814-070D-E91A-3993-7E6FC0A45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7160"/>
            <a:ext cx="11948160" cy="6720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8562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to a Database with EF Core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Entity Framework Core is an Object-Relational Mapper (ORM)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DbContext represents a session with the database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DbSet&lt;T&gt; maps a model class to a database table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Migrations keep schema in sync with your models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52160" y="1417320"/>
            <a:ext cx="5760720" cy="3931920"/>
          </a:xfrm>
          <a:prstGeom prst="roundRect">
            <a:avLst>
              <a:gd name="adj" fmla="val 1860"/>
            </a:avLst>
          </a:prstGeom>
          <a:solidFill>
            <a:srgbClr val="12233B"/>
          </a:solidFill>
          <a:ln/>
          <a:effectLst>
            <a:outerShdw blurRad="101600" dist="38100" dir="27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035040" y="1563624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236208" y="1563624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37376" y="1563624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080760" y="1764792"/>
            <a:ext cx="5303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AppDbContext : DbContext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AppDbContext(DbContextOptions o)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 base(o) { }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DbSet&lt;Product&gt; Products { get; set; }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CLI: apply schema changes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ef migrations add InitialCreate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ef database update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 / Await for Scalability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Async frees up threads while waiting on I/O (DB, network)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Always use async all the way — avoid mixing with .Result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Use CancellationToken to support request cancellation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Improves throughput under high concurrent load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52160" y="1417320"/>
            <a:ext cx="5760720" cy="3657600"/>
          </a:xfrm>
          <a:prstGeom prst="roundRect">
            <a:avLst>
              <a:gd name="adj" fmla="val 2000"/>
            </a:avLst>
          </a:prstGeom>
          <a:solidFill>
            <a:srgbClr val="12233B"/>
          </a:solidFill>
          <a:ln/>
          <a:effectLst>
            <a:outerShdw blurRad="101600" dist="38100" dir="27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035040" y="1563624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236208" y="1563624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37376" y="1563624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080760" y="1764792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[HttpGet("{id}")]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async Task&lt;IActionResult&gt; GetById(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id, CancellationToken ct)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product = await _context.Products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.FindAsync(new object[] { id }, ct);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(product is null) return NotFound();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Ok(product);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EXPERIENCE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Documentation with Swagger / OpenAPI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Swagger (OpenAPI) auto-generates interactive API docs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Lets you try out endpoints directly from the browser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Included out-of-the-box in the Web API template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Great for frontend teams consuming your API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52160" y="1417320"/>
            <a:ext cx="5760720" cy="3749040"/>
          </a:xfrm>
          <a:prstGeom prst="roundRect">
            <a:avLst>
              <a:gd name="adj" fmla="val 1951"/>
            </a:avLst>
          </a:prstGeom>
          <a:solidFill>
            <a:srgbClr val="12233B"/>
          </a:solidFill>
          <a:ln/>
          <a:effectLst>
            <a:outerShdw blurRad="101600" dist="38100" dir="27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035040" y="1563624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236208" y="1563624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37376" y="1563624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080760" y="1764792"/>
            <a:ext cx="5303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Program.cs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builder.Services.AddEndpointsApiExplorer();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builder.Services.AddSwaggerGen();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(app.Environment.IsDevelopment())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app.UseSwagger();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app.UseSwaggerUI();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Browse to: /swagger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Experience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Centralized Exception Handling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Never let raw exceptions leak to the client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Use middleware to catch errors in one place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Return consistent, structured error responses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Log the full exception server-side for diagnostics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52160" y="1417320"/>
            <a:ext cx="5760720" cy="3108960"/>
          </a:xfrm>
          <a:prstGeom prst="roundRect">
            <a:avLst>
              <a:gd name="adj" fmla="val 2353"/>
            </a:avLst>
          </a:prstGeom>
          <a:solidFill>
            <a:srgbClr val="12233B"/>
          </a:solidFill>
          <a:ln/>
          <a:effectLst>
            <a:outerShdw blurRad="101600" dist="38100" dir="27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035040" y="1563624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236208" y="1563624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37376" y="1563624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080760" y="1764792"/>
            <a:ext cx="5303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app.UseExceptionHandler(a =&gt; a.Run(async ctx =&gt;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ctx.Response.StatusCode = 500;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ctx.Response.ContentType = "application/json";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ctx.Response.WriteAsync(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"{\"error\":\"Something went wrong\"}");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}));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with JWT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JWT (JSON Web Token) proves a user's identity on each call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Client logs in once, receives a signed token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Token is sent in the Authorization header on future requests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[Authorize] attribute protects controllers or actions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52160" y="1417320"/>
            <a:ext cx="5760720" cy="3474720"/>
          </a:xfrm>
          <a:prstGeom prst="roundRect">
            <a:avLst>
              <a:gd name="adj" fmla="val 2105"/>
            </a:avLst>
          </a:prstGeom>
          <a:solidFill>
            <a:srgbClr val="12233B"/>
          </a:solidFill>
          <a:ln/>
          <a:effectLst>
            <a:outerShdw blurRad="101600" dist="38100" dir="27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035040" y="1563624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236208" y="1563624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37376" y="1563624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080760" y="1764792"/>
            <a:ext cx="5303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[Authorize]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[HttpGet("secure-data")]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IActionResult GetSecureData()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Ok("Only for authenticated users");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Client request header: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Authorization: Bearer &lt;token&gt;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Your API with Postman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600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Request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029200" y="160020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Postman, choose the HTTP verb and paste your endpoint URL.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3774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Headers / Body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029200" y="23774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Content-Type: application/json and add a request body for POST/PUT.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154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&amp; Inspect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029200" y="31546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Send, then review the status code, response body, and timing.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931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 a Collection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029200" y="39319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related requests to re-run and share with your team.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2233B"/>
          </a:solidFill>
          <a:ln/>
          <a:effectLst>
            <a:outerShdw blurRad="101600" dist="38100" dir="2700000" algn="bl" rotWithShape="0">
              <a:srgbClr val="0B2545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31520" y="4992624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932688" y="4992624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1133856" y="4992624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77240" y="5193792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https://localhost:5001/api/products/5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Accept: application/json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Expected Response: 200 OK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"id": 5, "name": "Keyboard", "price": 799.00 }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Checklist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EE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13232" y="1833372"/>
            <a:ext cx="402336" cy="402336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536" y="1885676"/>
            <a:ext cx="297729" cy="29772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64592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controllers thin — put logic in services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EE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713232" y="2747772"/>
            <a:ext cx="402336" cy="402336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536" y="2800076"/>
            <a:ext cx="297729" cy="29772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56032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DTOs instead of exposing DB entities directly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347472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EE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713232" y="3662172"/>
            <a:ext cx="402336" cy="402336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536" y="3714476"/>
            <a:ext cx="297729" cy="29772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347472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validate input and return proper status codes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438912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EE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713232" y="4576572"/>
            <a:ext cx="402336" cy="402336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536" y="4628876"/>
            <a:ext cx="297729" cy="29772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34440" y="438912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async/await for all I/O operations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263640" y="164592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EE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5"/>
          <p:cNvSpPr/>
          <p:nvPr/>
        </p:nvSpPr>
        <p:spPr>
          <a:xfrm>
            <a:off x="6428232" y="1833372"/>
            <a:ext cx="402336" cy="402336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536" y="1885676"/>
            <a:ext cx="297729" cy="29772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949440" y="164592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error handling and logging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263640" y="256032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EE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18"/>
          <p:cNvSpPr/>
          <p:nvPr/>
        </p:nvSpPr>
        <p:spPr>
          <a:xfrm>
            <a:off x="6428232" y="2747772"/>
            <a:ext cx="402336" cy="402336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536" y="2800076"/>
            <a:ext cx="297729" cy="297729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49440" y="256032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endpoints with Authentication &amp; Authorization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6263640" y="347472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EE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1"/>
          <p:cNvSpPr/>
          <p:nvPr/>
        </p:nvSpPr>
        <p:spPr>
          <a:xfrm>
            <a:off x="6428232" y="3662172"/>
            <a:ext cx="402336" cy="402336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536" y="3714476"/>
            <a:ext cx="297729" cy="297729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949440" y="347472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your API (e.g. /api/v1/...)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6263640" y="438912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EE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24"/>
          <p:cNvSpPr/>
          <p:nvPr/>
        </p:nvSpPr>
        <p:spPr>
          <a:xfrm>
            <a:off x="6428232" y="4576572"/>
            <a:ext cx="402336" cy="402336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536" y="4628876"/>
            <a:ext cx="297729" cy="297729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949440" y="438912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unit &amp; integration tests</a:t>
            </a:r>
            <a:endParaRPr lang="en-US" sz="1300" dirty="0"/>
          </a:p>
        </p:txBody>
      </p:sp>
      <p:sp>
        <p:nvSpPr>
          <p:cNvPr id="36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000" dirty="0"/>
          </a:p>
        </p:txBody>
      </p:sp>
      <p:sp>
        <p:nvSpPr>
          <p:cNvPr id="37" name="Text 27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84048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945" y="2301545"/>
            <a:ext cx="608990" cy="608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2004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40233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attending — let's build something great together.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docs.microsoft.com/aspnet/core   |   learn.microsoft.com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3085c86-4bcb-460a-a6f0-b373421c6323}" enabled="0" method="" siteId="{13085c86-4bcb-460a-a6f0-b373421c632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1110</TotalTime>
  <Words>1865</Words>
  <Application>Microsoft Office PowerPoint</Application>
  <PresentationFormat>Widescreen</PresentationFormat>
  <Paragraphs>396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ASP.NET Core Web API Training</dc:title>
  <dc:subject>PptxGenJS Presentation</dc:subject>
  <dc:creator>Software Training Team</dc:creator>
  <cp:lastModifiedBy>Keren Duke Christobel</cp:lastModifiedBy>
  <cp:revision>2</cp:revision>
  <dcterms:created xsi:type="dcterms:W3CDTF">2026-07-07T15:50:13Z</dcterms:created>
  <dcterms:modified xsi:type="dcterms:W3CDTF">2026-07-17T11:02:43Z</dcterms:modified>
</cp:coreProperties>
</file>